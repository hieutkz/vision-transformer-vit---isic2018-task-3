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62" r:id="rId3"/>
    <p:sldId id="261" r:id="rId4"/>
    <p:sldId id="258" r:id="rId5"/>
    <p:sldId id="263" r:id="rId6"/>
    <p:sldId id="264" r:id="rId7"/>
    <p:sldId id="259" r:id="rId8"/>
    <p:sldId id="260" r:id="rId9"/>
    <p:sldId id="25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55" autoAdjust="0"/>
    <p:restoredTop sz="94660"/>
  </p:normalViewPr>
  <p:slideViewPr>
    <p:cSldViewPr snapToGrid="0">
      <p:cViewPr varScale="1">
        <p:scale>
          <a:sx n="77" d="100"/>
          <a:sy n="77" d="100"/>
        </p:scale>
        <p:origin x="1147"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ECF002-9369-4E0E-806D-8B7DD21EF979}" type="datetimeFigureOut">
              <a:rPr lang="en-US" smtClean="0"/>
              <a:t>31/12/2025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E266D0-09D7-43F0-B5D9-6FD09658F595}" type="slidenum">
              <a:rPr lang="en-US" smtClean="0"/>
              <a:t>‹#›</a:t>
            </a:fld>
            <a:endParaRPr lang="en-US"/>
          </a:p>
        </p:txBody>
      </p:sp>
    </p:spTree>
    <p:extLst>
      <p:ext uri="{BB962C8B-B14F-4D97-AF65-F5344CB8AC3E}">
        <p14:creationId xmlns:p14="http://schemas.microsoft.com/office/powerpoint/2010/main" val="2064906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E266D0-09D7-43F0-B5D9-6FD09658F595}" type="slidenum">
              <a:rPr lang="en-US" smtClean="0"/>
              <a:t>1</a:t>
            </a:fld>
            <a:endParaRPr lang="en-US"/>
          </a:p>
        </p:txBody>
      </p:sp>
    </p:spTree>
    <p:extLst>
      <p:ext uri="{BB962C8B-B14F-4D97-AF65-F5344CB8AC3E}">
        <p14:creationId xmlns:p14="http://schemas.microsoft.com/office/powerpoint/2010/main" val="1939792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3FBBB-E10B-7B4D-EE3C-BEEE325FEB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0F098F6-6571-C93B-4C55-9B5E29BA67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474B045-3F28-EF45-952A-EF5142131CB7}"/>
              </a:ext>
            </a:extLst>
          </p:cNvPr>
          <p:cNvSpPr>
            <a:spLocks noGrp="1"/>
          </p:cNvSpPr>
          <p:nvPr>
            <p:ph type="dt" sz="half" idx="10"/>
          </p:nvPr>
        </p:nvSpPr>
        <p:spPr/>
        <p:txBody>
          <a:bodyPr/>
          <a:lstStyle/>
          <a:p>
            <a:fld id="{7DDFA97A-BFF9-4472-9471-4DBD18C6FCF5}" type="datetimeFigureOut">
              <a:rPr lang="en-US" smtClean="0"/>
              <a:t>31/12/2025</a:t>
            </a:fld>
            <a:endParaRPr lang="en-US"/>
          </a:p>
        </p:txBody>
      </p:sp>
      <p:sp>
        <p:nvSpPr>
          <p:cNvPr id="5" name="Footer Placeholder 4">
            <a:extLst>
              <a:ext uri="{FF2B5EF4-FFF2-40B4-BE49-F238E27FC236}">
                <a16:creationId xmlns:a16="http://schemas.microsoft.com/office/drawing/2014/main" id="{E260CCFC-F598-30A6-05B3-DECE7D5DD8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9444FF-99CE-633B-5269-17A3102CD370}"/>
              </a:ext>
            </a:extLst>
          </p:cNvPr>
          <p:cNvSpPr>
            <a:spLocks noGrp="1"/>
          </p:cNvSpPr>
          <p:nvPr>
            <p:ph type="sldNum" sz="quarter" idx="12"/>
          </p:nvPr>
        </p:nvSpPr>
        <p:spPr/>
        <p:txBody>
          <a:bodyPr/>
          <a:lstStyle/>
          <a:p>
            <a:fld id="{B8A09C34-9180-4F72-BC51-72B8E40860B1}" type="slidenum">
              <a:rPr lang="en-US" smtClean="0"/>
              <a:t>‹#›</a:t>
            </a:fld>
            <a:endParaRPr lang="en-US"/>
          </a:p>
        </p:txBody>
      </p:sp>
    </p:spTree>
    <p:extLst>
      <p:ext uri="{BB962C8B-B14F-4D97-AF65-F5344CB8AC3E}">
        <p14:creationId xmlns:p14="http://schemas.microsoft.com/office/powerpoint/2010/main" val="2538468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75D3C-C751-F674-01B2-70F2D1AE4B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C5951B-DE0D-BFED-A61E-35298AE24E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F35274-F1F5-F818-DA37-9C266EB27D96}"/>
              </a:ext>
            </a:extLst>
          </p:cNvPr>
          <p:cNvSpPr>
            <a:spLocks noGrp="1"/>
          </p:cNvSpPr>
          <p:nvPr>
            <p:ph type="dt" sz="half" idx="10"/>
          </p:nvPr>
        </p:nvSpPr>
        <p:spPr/>
        <p:txBody>
          <a:bodyPr/>
          <a:lstStyle/>
          <a:p>
            <a:fld id="{7DDFA97A-BFF9-4472-9471-4DBD18C6FCF5}" type="datetimeFigureOut">
              <a:rPr lang="en-US" smtClean="0"/>
              <a:t>31/12/2025</a:t>
            </a:fld>
            <a:endParaRPr lang="en-US"/>
          </a:p>
        </p:txBody>
      </p:sp>
      <p:sp>
        <p:nvSpPr>
          <p:cNvPr id="5" name="Footer Placeholder 4">
            <a:extLst>
              <a:ext uri="{FF2B5EF4-FFF2-40B4-BE49-F238E27FC236}">
                <a16:creationId xmlns:a16="http://schemas.microsoft.com/office/drawing/2014/main" id="{D7F2CB3A-CCCD-2EF6-324E-FD4B54F2AE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C56706-AF00-5EF6-0E08-4B7C698C5A01}"/>
              </a:ext>
            </a:extLst>
          </p:cNvPr>
          <p:cNvSpPr>
            <a:spLocks noGrp="1"/>
          </p:cNvSpPr>
          <p:nvPr>
            <p:ph type="sldNum" sz="quarter" idx="12"/>
          </p:nvPr>
        </p:nvSpPr>
        <p:spPr/>
        <p:txBody>
          <a:bodyPr/>
          <a:lstStyle/>
          <a:p>
            <a:fld id="{B8A09C34-9180-4F72-BC51-72B8E40860B1}" type="slidenum">
              <a:rPr lang="en-US" smtClean="0"/>
              <a:t>‹#›</a:t>
            </a:fld>
            <a:endParaRPr lang="en-US"/>
          </a:p>
        </p:txBody>
      </p:sp>
    </p:spTree>
    <p:extLst>
      <p:ext uri="{BB962C8B-B14F-4D97-AF65-F5344CB8AC3E}">
        <p14:creationId xmlns:p14="http://schemas.microsoft.com/office/powerpoint/2010/main" val="638480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DE832-6917-555E-7032-820D4CB396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377A6D-A124-60CB-3C1A-4D9D28DBCE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BD8AB0-2C9F-D18A-E0E2-626EBD8EA0FC}"/>
              </a:ext>
            </a:extLst>
          </p:cNvPr>
          <p:cNvSpPr>
            <a:spLocks noGrp="1"/>
          </p:cNvSpPr>
          <p:nvPr>
            <p:ph type="dt" sz="half" idx="10"/>
          </p:nvPr>
        </p:nvSpPr>
        <p:spPr/>
        <p:txBody>
          <a:bodyPr/>
          <a:lstStyle/>
          <a:p>
            <a:fld id="{7DDFA97A-BFF9-4472-9471-4DBD18C6FCF5}" type="datetimeFigureOut">
              <a:rPr lang="en-US" smtClean="0"/>
              <a:t>31/12/2025</a:t>
            </a:fld>
            <a:endParaRPr lang="en-US"/>
          </a:p>
        </p:txBody>
      </p:sp>
      <p:sp>
        <p:nvSpPr>
          <p:cNvPr id="5" name="Footer Placeholder 4">
            <a:extLst>
              <a:ext uri="{FF2B5EF4-FFF2-40B4-BE49-F238E27FC236}">
                <a16:creationId xmlns:a16="http://schemas.microsoft.com/office/drawing/2014/main" id="{C7B457AE-24A1-DBB1-71D5-046A401AD1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D1EF5F-60DD-5F98-816E-EEE4A0FD937F}"/>
              </a:ext>
            </a:extLst>
          </p:cNvPr>
          <p:cNvSpPr>
            <a:spLocks noGrp="1"/>
          </p:cNvSpPr>
          <p:nvPr>
            <p:ph type="sldNum" sz="quarter" idx="12"/>
          </p:nvPr>
        </p:nvSpPr>
        <p:spPr/>
        <p:txBody>
          <a:bodyPr/>
          <a:lstStyle/>
          <a:p>
            <a:fld id="{B8A09C34-9180-4F72-BC51-72B8E40860B1}" type="slidenum">
              <a:rPr lang="en-US" smtClean="0"/>
              <a:t>‹#›</a:t>
            </a:fld>
            <a:endParaRPr lang="en-US"/>
          </a:p>
        </p:txBody>
      </p:sp>
    </p:spTree>
    <p:extLst>
      <p:ext uri="{BB962C8B-B14F-4D97-AF65-F5344CB8AC3E}">
        <p14:creationId xmlns:p14="http://schemas.microsoft.com/office/powerpoint/2010/main" val="3495110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FE579-9810-4FEA-5884-088A5787D7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DC6612-4526-0387-9EAC-62FCA38A95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3DC880-6280-57E8-025C-6C63CF22CD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A93021-953E-1709-C869-6568519884E5}"/>
              </a:ext>
            </a:extLst>
          </p:cNvPr>
          <p:cNvSpPr>
            <a:spLocks noGrp="1"/>
          </p:cNvSpPr>
          <p:nvPr>
            <p:ph type="dt" sz="half" idx="10"/>
          </p:nvPr>
        </p:nvSpPr>
        <p:spPr/>
        <p:txBody>
          <a:bodyPr/>
          <a:lstStyle/>
          <a:p>
            <a:fld id="{7DDFA97A-BFF9-4472-9471-4DBD18C6FCF5}" type="datetimeFigureOut">
              <a:rPr lang="en-US" smtClean="0"/>
              <a:t>31/12/2025</a:t>
            </a:fld>
            <a:endParaRPr lang="en-US"/>
          </a:p>
        </p:txBody>
      </p:sp>
      <p:sp>
        <p:nvSpPr>
          <p:cNvPr id="6" name="Footer Placeholder 5">
            <a:extLst>
              <a:ext uri="{FF2B5EF4-FFF2-40B4-BE49-F238E27FC236}">
                <a16:creationId xmlns:a16="http://schemas.microsoft.com/office/drawing/2014/main" id="{8CDDECBD-6C83-4B75-FAC9-F8B68DC4C6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8C6E07-8322-1A5F-626C-B22BF0AE2672}"/>
              </a:ext>
            </a:extLst>
          </p:cNvPr>
          <p:cNvSpPr>
            <a:spLocks noGrp="1"/>
          </p:cNvSpPr>
          <p:nvPr>
            <p:ph type="sldNum" sz="quarter" idx="12"/>
          </p:nvPr>
        </p:nvSpPr>
        <p:spPr/>
        <p:txBody>
          <a:bodyPr/>
          <a:lstStyle/>
          <a:p>
            <a:fld id="{B8A09C34-9180-4F72-BC51-72B8E40860B1}" type="slidenum">
              <a:rPr lang="en-US" smtClean="0"/>
              <a:t>‹#›</a:t>
            </a:fld>
            <a:endParaRPr lang="en-US"/>
          </a:p>
        </p:txBody>
      </p:sp>
    </p:spTree>
    <p:extLst>
      <p:ext uri="{BB962C8B-B14F-4D97-AF65-F5344CB8AC3E}">
        <p14:creationId xmlns:p14="http://schemas.microsoft.com/office/powerpoint/2010/main" val="492072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7A300-80D5-1262-7840-964F444AFB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956D57-E352-DE88-99EE-3920C359ED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7DEF97-A0F1-D850-CCF4-B3C4BFA384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AB56C70-BC2E-69E4-32A3-21FD0CB08B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F56125-328A-3A3B-3DFE-668676C9EE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6D3285-535E-554E-079A-95D56C0AE885}"/>
              </a:ext>
            </a:extLst>
          </p:cNvPr>
          <p:cNvSpPr>
            <a:spLocks noGrp="1"/>
          </p:cNvSpPr>
          <p:nvPr>
            <p:ph type="dt" sz="half" idx="10"/>
          </p:nvPr>
        </p:nvSpPr>
        <p:spPr/>
        <p:txBody>
          <a:bodyPr/>
          <a:lstStyle/>
          <a:p>
            <a:fld id="{7DDFA97A-BFF9-4472-9471-4DBD18C6FCF5}" type="datetimeFigureOut">
              <a:rPr lang="en-US" smtClean="0"/>
              <a:t>31/12/2025</a:t>
            </a:fld>
            <a:endParaRPr lang="en-US"/>
          </a:p>
        </p:txBody>
      </p:sp>
      <p:sp>
        <p:nvSpPr>
          <p:cNvPr id="8" name="Footer Placeholder 7">
            <a:extLst>
              <a:ext uri="{FF2B5EF4-FFF2-40B4-BE49-F238E27FC236}">
                <a16:creationId xmlns:a16="http://schemas.microsoft.com/office/drawing/2014/main" id="{34D93239-EA9A-1C64-B506-CA75F86AE8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47E04A-49C3-5A10-5420-97DC94FB47B5}"/>
              </a:ext>
            </a:extLst>
          </p:cNvPr>
          <p:cNvSpPr>
            <a:spLocks noGrp="1"/>
          </p:cNvSpPr>
          <p:nvPr>
            <p:ph type="sldNum" sz="quarter" idx="12"/>
          </p:nvPr>
        </p:nvSpPr>
        <p:spPr/>
        <p:txBody>
          <a:bodyPr/>
          <a:lstStyle/>
          <a:p>
            <a:fld id="{B8A09C34-9180-4F72-BC51-72B8E40860B1}" type="slidenum">
              <a:rPr lang="en-US" smtClean="0"/>
              <a:t>‹#›</a:t>
            </a:fld>
            <a:endParaRPr lang="en-US"/>
          </a:p>
        </p:txBody>
      </p:sp>
    </p:spTree>
    <p:extLst>
      <p:ext uri="{BB962C8B-B14F-4D97-AF65-F5344CB8AC3E}">
        <p14:creationId xmlns:p14="http://schemas.microsoft.com/office/powerpoint/2010/main" val="21598059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41580-4A3B-7A5A-C882-0025DC6360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0E5BC5-8A2E-D30E-7544-5666CF70FB30}"/>
              </a:ext>
            </a:extLst>
          </p:cNvPr>
          <p:cNvSpPr>
            <a:spLocks noGrp="1"/>
          </p:cNvSpPr>
          <p:nvPr>
            <p:ph type="dt" sz="half" idx="10"/>
          </p:nvPr>
        </p:nvSpPr>
        <p:spPr/>
        <p:txBody>
          <a:bodyPr/>
          <a:lstStyle/>
          <a:p>
            <a:fld id="{7DDFA97A-BFF9-4472-9471-4DBD18C6FCF5}" type="datetimeFigureOut">
              <a:rPr lang="en-US" smtClean="0"/>
              <a:t>31/12/2025</a:t>
            </a:fld>
            <a:endParaRPr lang="en-US"/>
          </a:p>
        </p:txBody>
      </p:sp>
      <p:sp>
        <p:nvSpPr>
          <p:cNvPr id="4" name="Footer Placeholder 3">
            <a:extLst>
              <a:ext uri="{FF2B5EF4-FFF2-40B4-BE49-F238E27FC236}">
                <a16:creationId xmlns:a16="http://schemas.microsoft.com/office/drawing/2014/main" id="{FA8274D0-6105-16A0-FF21-E29486E871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CBE1D4-5962-75D3-4A65-69B9C07E9E21}"/>
              </a:ext>
            </a:extLst>
          </p:cNvPr>
          <p:cNvSpPr>
            <a:spLocks noGrp="1"/>
          </p:cNvSpPr>
          <p:nvPr>
            <p:ph type="sldNum" sz="quarter" idx="12"/>
          </p:nvPr>
        </p:nvSpPr>
        <p:spPr/>
        <p:txBody>
          <a:bodyPr/>
          <a:lstStyle/>
          <a:p>
            <a:fld id="{B8A09C34-9180-4F72-BC51-72B8E40860B1}" type="slidenum">
              <a:rPr lang="en-US" smtClean="0"/>
              <a:t>‹#›</a:t>
            </a:fld>
            <a:endParaRPr lang="en-US"/>
          </a:p>
        </p:txBody>
      </p:sp>
    </p:spTree>
    <p:extLst>
      <p:ext uri="{BB962C8B-B14F-4D97-AF65-F5344CB8AC3E}">
        <p14:creationId xmlns:p14="http://schemas.microsoft.com/office/powerpoint/2010/main" val="289385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E8127B-68DF-D505-393F-2517E90A4C44}"/>
              </a:ext>
            </a:extLst>
          </p:cNvPr>
          <p:cNvSpPr>
            <a:spLocks noGrp="1"/>
          </p:cNvSpPr>
          <p:nvPr>
            <p:ph type="dt" sz="half" idx="10"/>
          </p:nvPr>
        </p:nvSpPr>
        <p:spPr/>
        <p:txBody>
          <a:bodyPr/>
          <a:lstStyle/>
          <a:p>
            <a:fld id="{7DDFA97A-BFF9-4472-9471-4DBD18C6FCF5}" type="datetimeFigureOut">
              <a:rPr lang="en-US" smtClean="0"/>
              <a:t>31/12/2025</a:t>
            </a:fld>
            <a:endParaRPr lang="en-US"/>
          </a:p>
        </p:txBody>
      </p:sp>
      <p:sp>
        <p:nvSpPr>
          <p:cNvPr id="3" name="Footer Placeholder 2">
            <a:extLst>
              <a:ext uri="{FF2B5EF4-FFF2-40B4-BE49-F238E27FC236}">
                <a16:creationId xmlns:a16="http://schemas.microsoft.com/office/drawing/2014/main" id="{A1CC3E55-CA02-A229-117D-D5FD37E8ADE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305A04-D939-571C-D563-FDC9CB3E5EE6}"/>
              </a:ext>
            </a:extLst>
          </p:cNvPr>
          <p:cNvSpPr>
            <a:spLocks noGrp="1"/>
          </p:cNvSpPr>
          <p:nvPr>
            <p:ph type="sldNum" sz="quarter" idx="12"/>
          </p:nvPr>
        </p:nvSpPr>
        <p:spPr/>
        <p:txBody>
          <a:bodyPr/>
          <a:lstStyle/>
          <a:p>
            <a:fld id="{B8A09C34-9180-4F72-BC51-72B8E40860B1}" type="slidenum">
              <a:rPr lang="en-US" smtClean="0"/>
              <a:t>‹#›</a:t>
            </a:fld>
            <a:endParaRPr lang="en-US"/>
          </a:p>
        </p:txBody>
      </p:sp>
    </p:spTree>
    <p:extLst>
      <p:ext uri="{BB962C8B-B14F-4D97-AF65-F5344CB8AC3E}">
        <p14:creationId xmlns:p14="http://schemas.microsoft.com/office/powerpoint/2010/main" val="4058645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72601-3958-5F14-1D8B-D2A3AE1638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615CA1-9086-23BD-AC23-BAE7890448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773C58-6D6F-1408-4F20-591C5EC7DC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01E6D2-A84D-1ABD-F5B5-8D4937764849}"/>
              </a:ext>
            </a:extLst>
          </p:cNvPr>
          <p:cNvSpPr>
            <a:spLocks noGrp="1"/>
          </p:cNvSpPr>
          <p:nvPr>
            <p:ph type="dt" sz="half" idx="10"/>
          </p:nvPr>
        </p:nvSpPr>
        <p:spPr/>
        <p:txBody>
          <a:bodyPr/>
          <a:lstStyle/>
          <a:p>
            <a:fld id="{7DDFA97A-BFF9-4472-9471-4DBD18C6FCF5}" type="datetimeFigureOut">
              <a:rPr lang="en-US" smtClean="0"/>
              <a:t>31/12/2025</a:t>
            </a:fld>
            <a:endParaRPr lang="en-US"/>
          </a:p>
        </p:txBody>
      </p:sp>
      <p:sp>
        <p:nvSpPr>
          <p:cNvPr id="6" name="Footer Placeholder 5">
            <a:extLst>
              <a:ext uri="{FF2B5EF4-FFF2-40B4-BE49-F238E27FC236}">
                <a16:creationId xmlns:a16="http://schemas.microsoft.com/office/drawing/2014/main" id="{949FB01E-4628-AAE0-1F47-CBAF3EECFB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D820A6-EA45-DF89-8605-426296A3A852}"/>
              </a:ext>
            </a:extLst>
          </p:cNvPr>
          <p:cNvSpPr>
            <a:spLocks noGrp="1"/>
          </p:cNvSpPr>
          <p:nvPr>
            <p:ph type="sldNum" sz="quarter" idx="12"/>
          </p:nvPr>
        </p:nvSpPr>
        <p:spPr/>
        <p:txBody>
          <a:bodyPr/>
          <a:lstStyle/>
          <a:p>
            <a:fld id="{B8A09C34-9180-4F72-BC51-72B8E40860B1}" type="slidenum">
              <a:rPr lang="en-US" smtClean="0"/>
              <a:t>‹#›</a:t>
            </a:fld>
            <a:endParaRPr lang="en-US"/>
          </a:p>
        </p:txBody>
      </p:sp>
    </p:spTree>
    <p:extLst>
      <p:ext uri="{BB962C8B-B14F-4D97-AF65-F5344CB8AC3E}">
        <p14:creationId xmlns:p14="http://schemas.microsoft.com/office/powerpoint/2010/main" val="1830655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757EE-2BD4-EE2F-E810-849E394A65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BCA9559-233C-0735-08D2-3F50E6CBEE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7393FC-EA1B-42CB-E197-DA611E95E0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B79487-029F-26A2-74DB-8BB6B575E645}"/>
              </a:ext>
            </a:extLst>
          </p:cNvPr>
          <p:cNvSpPr>
            <a:spLocks noGrp="1"/>
          </p:cNvSpPr>
          <p:nvPr>
            <p:ph type="dt" sz="half" idx="10"/>
          </p:nvPr>
        </p:nvSpPr>
        <p:spPr/>
        <p:txBody>
          <a:bodyPr/>
          <a:lstStyle/>
          <a:p>
            <a:fld id="{7DDFA97A-BFF9-4472-9471-4DBD18C6FCF5}" type="datetimeFigureOut">
              <a:rPr lang="en-US" smtClean="0"/>
              <a:t>31/12/2025</a:t>
            </a:fld>
            <a:endParaRPr lang="en-US"/>
          </a:p>
        </p:txBody>
      </p:sp>
      <p:sp>
        <p:nvSpPr>
          <p:cNvPr id="6" name="Footer Placeholder 5">
            <a:extLst>
              <a:ext uri="{FF2B5EF4-FFF2-40B4-BE49-F238E27FC236}">
                <a16:creationId xmlns:a16="http://schemas.microsoft.com/office/drawing/2014/main" id="{50DB0904-2BDB-2C15-E646-1115C2C648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6F2451-A42A-51E5-5AE4-1D6C994963BE}"/>
              </a:ext>
            </a:extLst>
          </p:cNvPr>
          <p:cNvSpPr>
            <a:spLocks noGrp="1"/>
          </p:cNvSpPr>
          <p:nvPr>
            <p:ph type="sldNum" sz="quarter" idx="12"/>
          </p:nvPr>
        </p:nvSpPr>
        <p:spPr/>
        <p:txBody>
          <a:bodyPr/>
          <a:lstStyle/>
          <a:p>
            <a:fld id="{B8A09C34-9180-4F72-BC51-72B8E40860B1}" type="slidenum">
              <a:rPr lang="en-US" smtClean="0"/>
              <a:t>‹#›</a:t>
            </a:fld>
            <a:endParaRPr lang="en-US"/>
          </a:p>
        </p:txBody>
      </p:sp>
    </p:spTree>
    <p:extLst>
      <p:ext uri="{BB962C8B-B14F-4D97-AF65-F5344CB8AC3E}">
        <p14:creationId xmlns:p14="http://schemas.microsoft.com/office/powerpoint/2010/main" val="1048027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08FCB-1132-E58E-AB6D-7AEC96E84C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065D1C-88E0-91FA-B305-5B567BE1EC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7AA9CA-511A-04F0-35E0-C25569412EC9}"/>
              </a:ext>
            </a:extLst>
          </p:cNvPr>
          <p:cNvSpPr>
            <a:spLocks noGrp="1"/>
          </p:cNvSpPr>
          <p:nvPr>
            <p:ph type="dt" sz="half" idx="10"/>
          </p:nvPr>
        </p:nvSpPr>
        <p:spPr/>
        <p:txBody>
          <a:bodyPr/>
          <a:lstStyle/>
          <a:p>
            <a:fld id="{7DDFA97A-BFF9-4472-9471-4DBD18C6FCF5}" type="datetimeFigureOut">
              <a:rPr lang="en-US" smtClean="0"/>
              <a:t>31/12/2025</a:t>
            </a:fld>
            <a:endParaRPr lang="en-US"/>
          </a:p>
        </p:txBody>
      </p:sp>
      <p:sp>
        <p:nvSpPr>
          <p:cNvPr id="5" name="Footer Placeholder 4">
            <a:extLst>
              <a:ext uri="{FF2B5EF4-FFF2-40B4-BE49-F238E27FC236}">
                <a16:creationId xmlns:a16="http://schemas.microsoft.com/office/drawing/2014/main" id="{2D6C7010-A5CE-0F74-4B21-0DBF65D7F5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7576B4-D867-D3B4-A464-7970D924149A}"/>
              </a:ext>
            </a:extLst>
          </p:cNvPr>
          <p:cNvSpPr>
            <a:spLocks noGrp="1"/>
          </p:cNvSpPr>
          <p:nvPr>
            <p:ph type="sldNum" sz="quarter" idx="12"/>
          </p:nvPr>
        </p:nvSpPr>
        <p:spPr/>
        <p:txBody>
          <a:bodyPr/>
          <a:lstStyle/>
          <a:p>
            <a:fld id="{B8A09C34-9180-4F72-BC51-72B8E40860B1}" type="slidenum">
              <a:rPr lang="en-US" smtClean="0"/>
              <a:t>‹#›</a:t>
            </a:fld>
            <a:endParaRPr lang="en-US"/>
          </a:p>
        </p:txBody>
      </p:sp>
    </p:spTree>
    <p:extLst>
      <p:ext uri="{BB962C8B-B14F-4D97-AF65-F5344CB8AC3E}">
        <p14:creationId xmlns:p14="http://schemas.microsoft.com/office/powerpoint/2010/main" val="2570496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E08191-DA41-1E6F-E5FE-7A98BB99C0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672852-401D-E0E7-D6AB-21C27424AF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EFD28D-7164-6713-B6EC-B40E88F64088}"/>
              </a:ext>
            </a:extLst>
          </p:cNvPr>
          <p:cNvSpPr>
            <a:spLocks noGrp="1"/>
          </p:cNvSpPr>
          <p:nvPr>
            <p:ph type="dt" sz="half" idx="10"/>
          </p:nvPr>
        </p:nvSpPr>
        <p:spPr/>
        <p:txBody>
          <a:bodyPr/>
          <a:lstStyle/>
          <a:p>
            <a:fld id="{7DDFA97A-BFF9-4472-9471-4DBD18C6FCF5}" type="datetimeFigureOut">
              <a:rPr lang="en-US" smtClean="0"/>
              <a:t>31/12/2025</a:t>
            </a:fld>
            <a:endParaRPr lang="en-US"/>
          </a:p>
        </p:txBody>
      </p:sp>
      <p:sp>
        <p:nvSpPr>
          <p:cNvPr id="5" name="Footer Placeholder 4">
            <a:extLst>
              <a:ext uri="{FF2B5EF4-FFF2-40B4-BE49-F238E27FC236}">
                <a16:creationId xmlns:a16="http://schemas.microsoft.com/office/drawing/2014/main" id="{4E3405A6-419F-ABDE-96A8-C452CAB202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BA8486-3596-E03A-1710-F18664697F03}"/>
              </a:ext>
            </a:extLst>
          </p:cNvPr>
          <p:cNvSpPr>
            <a:spLocks noGrp="1"/>
          </p:cNvSpPr>
          <p:nvPr>
            <p:ph type="sldNum" sz="quarter" idx="12"/>
          </p:nvPr>
        </p:nvSpPr>
        <p:spPr/>
        <p:txBody>
          <a:bodyPr/>
          <a:lstStyle/>
          <a:p>
            <a:fld id="{B8A09C34-9180-4F72-BC51-72B8E40860B1}" type="slidenum">
              <a:rPr lang="en-US" smtClean="0"/>
              <a:t>‹#›</a:t>
            </a:fld>
            <a:endParaRPr lang="en-US"/>
          </a:p>
        </p:txBody>
      </p:sp>
    </p:spTree>
    <p:extLst>
      <p:ext uri="{BB962C8B-B14F-4D97-AF65-F5344CB8AC3E}">
        <p14:creationId xmlns:p14="http://schemas.microsoft.com/office/powerpoint/2010/main" val="3600305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D9437F-E62E-4C42-88D6-6B0A5364D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16E1C9-C4F6-AA3E-1E39-909B62222F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BB29A9-3813-0212-DAFD-9033DC6D95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DFA97A-BFF9-4472-9471-4DBD18C6FCF5}" type="datetimeFigureOut">
              <a:rPr lang="en-US" smtClean="0"/>
              <a:t>31/12/2025</a:t>
            </a:fld>
            <a:endParaRPr lang="en-US"/>
          </a:p>
        </p:txBody>
      </p:sp>
      <p:sp>
        <p:nvSpPr>
          <p:cNvPr id="5" name="Footer Placeholder 4">
            <a:extLst>
              <a:ext uri="{FF2B5EF4-FFF2-40B4-BE49-F238E27FC236}">
                <a16:creationId xmlns:a16="http://schemas.microsoft.com/office/drawing/2014/main" id="{1277C502-A52D-6EF1-C816-E759C45BCF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0A2AD42-9181-7827-D507-0162B244D0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A09C34-9180-4F72-BC51-72B8E40860B1}" type="slidenum">
              <a:rPr lang="en-US" smtClean="0"/>
              <a:t>‹#›</a:t>
            </a:fld>
            <a:endParaRPr lang="en-US"/>
          </a:p>
        </p:txBody>
      </p:sp>
    </p:spTree>
    <p:extLst>
      <p:ext uri="{BB962C8B-B14F-4D97-AF65-F5344CB8AC3E}">
        <p14:creationId xmlns:p14="http://schemas.microsoft.com/office/powerpoint/2010/main" val="19036617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arxiv.org/pdf/2010.11929" TargetMode="External"/><Relationship Id="rId2" Type="http://schemas.openxmlformats.org/officeDocument/2006/relationships/hyperlink" Target="https://huggingface.co/google/vit-base-patch16-224" TargetMode="External"/><Relationship Id="rId1" Type="http://schemas.openxmlformats.org/officeDocument/2006/relationships/slideLayout" Target="../slideLayouts/slideLayout7.xml"/><Relationship Id="rId5" Type="http://schemas.openxmlformats.org/officeDocument/2006/relationships/hyperlink" Target="https://www.researchgate.net/publication/384018286_Comprehensive_comparison_between_vision_transformers_and_convolutional_neural_networks_for_face_recognition_tasks" TargetMode="External"/><Relationship Id="rId4" Type="http://schemas.openxmlformats.org/officeDocument/2006/relationships/hyperlink" Target="https://www.nature.com/articles/sdata201816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DE41A79-3506-9528-159D-B9117BAB6504}"/>
              </a:ext>
            </a:extLst>
          </p:cNvPr>
          <p:cNvSpPr txBox="1"/>
          <p:nvPr/>
        </p:nvSpPr>
        <p:spPr>
          <a:xfrm>
            <a:off x="3200400" y="2721114"/>
            <a:ext cx="5791200" cy="707886"/>
          </a:xfrm>
          <a:prstGeom prst="rect">
            <a:avLst/>
          </a:prstGeom>
          <a:noFill/>
        </p:spPr>
        <p:txBody>
          <a:bodyPr wrap="square">
            <a:spAutoFit/>
          </a:bodyPr>
          <a:lstStyle/>
          <a:p>
            <a:r>
              <a:rPr lang="en-US" sz="4000" b="1" i="0">
                <a:effectLst/>
                <a:latin typeface="Source Sans Pro" panose="020B0503030403020204" pitchFamily="34" charset="0"/>
              </a:rPr>
              <a:t>Vision Transformer (ViT) </a:t>
            </a:r>
            <a:endParaRPr lang="en-US" sz="4000"/>
          </a:p>
        </p:txBody>
      </p:sp>
      <p:sp>
        <p:nvSpPr>
          <p:cNvPr id="7" name="TextBox 6">
            <a:extLst>
              <a:ext uri="{FF2B5EF4-FFF2-40B4-BE49-F238E27FC236}">
                <a16:creationId xmlns:a16="http://schemas.microsoft.com/office/drawing/2014/main" id="{6E2C4E90-5AB7-3F42-3456-A7F192227DF8}"/>
              </a:ext>
            </a:extLst>
          </p:cNvPr>
          <p:cNvSpPr txBox="1"/>
          <p:nvPr/>
        </p:nvSpPr>
        <p:spPr>
          <a:xfrm>
            <a:off x="5010149" y="3429000"/>
            <a:ext cx="2171701" cy="338554"/>
          </a:xfrm>
          <a:prstGeom prst="rect">
            <a:avLst/>
          </a:prstGeom>
          <a:noFill/>
        </p:spPr>
        <p:txBody>
          <a:bodyPr wrap="square">
            <a:spAutoFit/>
          </a:bodyPr>
          <a:lstStyle/>
          <a:p>
            <a:r>
              <a:rPr lang="en-US" sz="1600"/>
              <a:t>Presented by </a:t>
            </a:r>
            <a:r>
              <a:rPr lang="en-US" sz="1600" i="0">
                <a:effectLst/>
                <a:latin typeface="Source Sans Pro" panose="020B0503030403020204" pitchFamily="34" charset="0"/>
              </a:rPr>
              <a:t>Duc Hieu</a:t>
            </a:r>
            <a:endParaRPr lang="en-US" sz="1600"/>
          </a:p>
        </p:txBody>
      </p:sp>
    </p:spTree>
    <p:extLst>
      <p:ext uri="{BB962C8B-B14F-4D97-AF65-F5344CB8AC3E}">
        <p14:creationId xmlns:p14="http://schemas.microsoft.com/office/powerpoint/2010/main" val="3251081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table&#10;&#10;AI-generated content may be incorrect.">
            <a:extLst>
              <a:ext uri="{FF2B5EF4-FFF2-40B4-BE49-F238E27FC236}">
                <a16:creationId xmlns:a16="http://schemas.microsoft.com/office/drawing/2014/main" id="{E7066093-E923-D985-3973-6FFC80273AA6}"/>
              </a:ext>
            </a:extLst>
          </p:cNvPr>
          <p:cNvPicPr>
            <a:picLocks noChangeAspect="1"/>
          </p:cNvPicPr>
          <p:nvPr/>
        </p:nvPicPr>
        <p:blipFill>
          <a:blip r:embed="rId2"/>
          <a:stretch>
            <a:fillRect/>
          </a:stretch>
        </p:blipFill>
        <p:spPr>
          <a:xfrm>
            <a:off x="727776" y="2731626"/>
            <a:ext cx="10312746" cy="3894676"/>
          </a:xfrm>
          <a:prstGeom prst="rect">
            <a:avLst/>
          </a:prstGeom>
        </p:spPr>
      </p:pic>
      <p:sp>
        <p:nvSpPr>
          <p:cNvPr id="6" name="Rectangle 1">
            <a:extLst>
              <a:ext uri="{FF2B5EF4-FFF2-40B4-BE49-F238E27FC236}">
                <a16:creationId xmlns:a16="http://schemas.microsoft.com/office/drawing/2014/main" id="{1FD8A4A9-728D-A2DD-855A-B3E7440F3D37}"/>
              </a:ext>
            </a:extLst>
          </p:cNvPr>
          <p:cNvSpPr>
            <a:spLocks noChangeArrowheads="1"/>
          </p:cNvSpPr>
          <p:nvPr/>
        </p:nvSpPr>
        <p:spPr bwMode="auto">
          <a:xfrm>
            <a:off x="912971" y="332813"/>
            <a:ext cx="988477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Việc huấn luyện mạng nơ-ron để chẩn đoán tự động các tổn thương da sắc tố (pigmented skin lesions) gặp trở ngại lớn do thiếu các bộ dữ liệu quy mô lớn và đa dạng.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1800" b="1" i="0" u="none" strike="noStrike" cap="none" normalizeH="0" baseline="0">
                <a:ln>
                  <a:noFill/>
                </a:ln>
                <a:solidFill>
                  <a:schemeClr val="tx1"/>
                </a:solidFill>
                <a:effectLst/>
                <a:latin typeface="Arial" panose="020B0604020202020204" pitchFamily="34" charset="0"/>
              </a:rPr>
              <a:t>Vấn đề:</a:t>
            </a:r>
            <a:r>
              <a:rPr kumimoji="0" lang="en-US" altLang="en-US" sz="1800" b="0" i="0" u="none" strike="noStrike" cap="none" normalizeH="0" baseline="0">
                <a:ln>
                  <a:noFill/>
                </a:ln>
                <a:solidFill>
                  <a:schemeClr val="tx1"/>
                </a:solidFill>
                <a:effectLst/>
                <a:latin typeface="Arial" panose="020B0604020202020204" pitchFamily="34" charset="0"/>
              </a:rPr>
              <a:t> Các bộ dữ liệu trước đây thường nhỏ, thiếu đa dạng hoặc chỉ tập trung vào việc phân biệt giữa khối u ác tính (melanoma) và nốt ruồi (nevi), bỏ qua nhiều loại tổn thương lành tính khác thường gặp trong thực tế,.</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1800" b="1" i="0" u="none" strike="noStrike" cap="none" normalizeH="0" baseline="0">
                <a:ln>
                  <a:noFill/>
                </a:ln>
                <a:solidFill>
                  <a:schemeClr val="tx1"/>
                </a:solidFill>
                <a:effectLst/>
                <a:latin typeface="Arial" panose="020B0604020202020204" pitchFamily="34" charset="0"/>
              </a:rPr>
              <a:t>Giải pháp:</a:t>
            </a:r>
            <a:r>
              <a:rPr kumimoji="0" lang="en-US" altLang="en-US" sz="1800" b="0" i="0" u="none" strike="noStrike" cap="none" normalizeH="0" baseline="0">
                <a:ln>
                  <a:noFill/>
                </a:ln>
                <a:solidFill>
                  <a:schemeClr val="tx1"/>
                </a:solidFill>
                <a:effectLst/>
                <a:latin typeface="Arial" panose="020B0604020202020204" pitchFamily="34" charset="0"/>
              </a:rPr>
              <a:t> Nhóm tác giả phát hành bộ dữ liệu HAM10000 gồm </a:t>
            </a:r>
            <a:r>
              <a:rPr kumimoji="0" lang="en-US" altLang="en-US" sz="1800" b="1" i="0" u="none" strike="noStrike" cap="none" normalizeH="0" baseline="0">
                <a:ln>
                  <a:noFill/>
                </a:ln>
                <a:solidFill>
                  <a:schemeClr val="tx1"/>
                </a:solidFill>
                <a:effectLst/>
                <a:latin typeface="Arial" panose="020B0604020202020204" pitchFamily="34" charset="0"/>
              </a:rPr>
              <a:t>10.015 hình ảnh soi da (dermatoscopic images)</a:t>
            </a:r>
            <a:r>
              <a:rPr kumimoji="0" lang="en-US" altLang="en-US" sz="1800" b="0" i="0" u="none" strike="noStrike" cap="none" normalizeH="0" baseline="0">
                <a:ln>
                  <a:noFill/>
                </a:ln>
                <a:solidFill>
                  <a:schemeClr val="tx1"/>
                </a:solidFill>
                <a:effectLst/>
                <a:latin typeface="Arial" panose="020B0604020202020204" pitchFamily="34" charset="0"/>
              </a:rPr>
              <a:t> nhằm phục vụ mục đích nghiên cứu học máy</a:t>
            </a:r>
          </a:p>
        </p:txBody>
      </p:sp>
    </p:spTree>
    <p:extLst>
      <p:ext uri="{BB962C8B-B14F-4D97-AF65-F5344CB8AC3E}">
        <p14:creationId xmlns:p14="http://schemas.microsoft.com/office/powerpoint/2010/main" val="1617389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035063-061E-0C9B-2A6D-6817BCE88698}"/>
              </a:ext>
            </a:extLst>
          </p:cNvPr>
          <p:cNvSpPr txBox="1"/>
          <p:nvPr/>
        </p:nvSpPr>
        <p:spPr>
          <a:xfrm>
            <a:off x="405296" y="279418"/>
            <a:ext cx="3471406" cy="369332"/>
          </a:xfrm>
          <a:prstGeom prst="rect">
            <a:avLst/>
          </a:prstGeom>
          <a:noFill/>
        </p:spPr>
        <p:txBody>
          <a:bodyPr wrap="square" rtlCol="0">
            <a:spAutoFit/>
          </a:bodyPr>
          <a:lstStyle/>
          <a:p>
            <a:r>
              <a:rPr lang="en-US" b="1"/>
              <a:t>Dataset: ISIC2018 task 3</a:t>
            </a:r>
          </a:p>
        </p:txBody>
      </p:sp>
      <p:pic>
        <p:nvPicPr>
          <p:cNvPr id="4" name="Picture 3" descr="A diagram of a workflow&#10;&#10;AI-generated content may be incorrect.">
            <a:extLst>
              <a:ext uri="{FF2B5EF4-FFF2-40B4-BE49-F238E27FC236}">
                <a16:creationId xmlns:a16="http://schemas.microsoft.com/office/drawing/2014/main" id="{1508837C-FDFE-34F1-2D21-0703089F3755}"/>
              </a:ext>
            </a:extLst>
          </p:cNvPr>
          <p:cNvPicPr>
            <a:picLocks noChangeAspect="1"/>
          </p:cNvPicPr>
          <p:nvPr/>
        </p:nvPicPr>
        <p:blipFill>
          <a:blip r:embed="rId2"/>
          <a:stretch>
            <a:fillRect/>
          </a:stretch>
        </p:blipFill>
        <p:spPr>
          <a:xfrm>
            <a:off x="5277836" y="51078"/>
            <a:ext cx="6030630" cy="4460082"/>
          </a:xfrm>
          <a:prstGeom prst="rect">
            <a:avLst/>
          </a:prstGeom>
        </p:spPr>
      </p:pic>
      <p:sp>
        <p:nvSpPr>
          <p:cNvPr id="7" name="Rectangle 1">
            <a:extLst>
              <a:ext uri="{FF2B5EF4-FFF2-40B4-BE49-F238E27FC236}">
                <a16:creationId xmlns:a16="http://schemas.microsoft.com/office/drawing/2014/main" id="{86BAE670-FD75-5982-F896-52F220F0ACF5}"/>
              </a:ext>
            </a:extLst>
          </p:cNvPr>
          <p:cNvSpPr>
            <a:spLocks noChangeArrowheads="1"/>
          </p:cNvSpPr>
          <p:nvPr/>
        </p:nvSpPr>
        <p:spPr bwMode="auto">
          <a:xfrm>
            <a:off x="175499" y="966787"/>
            <a:ext cx="4838036"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anose="020B0604020202020204" pitchFamily="34" charset="0"/>
              </a:rPr>
              <a:t>Nhóm tác giả đã sử dụng quy trình bán tự động để xử lý lượng dữ liệu thô khổng lồ:</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anose="020B0604020202020204" pitchFamily="34" charset="0"/>
              </a:rPr>
              <a:t>• </a:t>
            </a:r>
            <a:r>
              <a:rPr kumimoji="0" lang="en-US" altLang="en-US" sz="1400" b="1" i="0" u="none" strike="noStrike" cap="none" normalizeH="0" baseline="0">
                <a:ln>
                  <a:noFill/>
                </a:ln>
                <a:solidFill>
                  <a:schemeClr val="tx1"/>
                </a:solidFill>
                <a:effectLst/>
                <a:latin typeface="Arial" panose="020B0604020202020204" pitchFamily="34" charset="0"/>
              </a:rPr>
              <a:t>Lọc ảnh bằng AI:</a:t>
            </a:r>
            <a:r>
              <a:rPr kumimoji="0" lang="en-US" altLang="en-US" sz="1400" b="0" i="0" u="none" strike="noStrike" cap="none" normalizeH="0" baseline="0">
                <a:ln>
                  <a:noFill/>
                </a:ln>
                <a:solidFill>
                  <a:schemeClr val="tx1"/>
                </a:solidFill>
                <a:effectLst/>
                <a:latin typeface="Arial" panose="020B0604020202020204" pitchFamily="34" charset="0"/>
              </a:rPr>
              <a:t> Sử dụng mạng nơ-ron </a:t>
            </a:r>
            <a:r>
              <a:rPr kumimoji="0" lang="en-US" altLang="en-US" sz="1400" b="1" i="0" u="none" strike="noStrike" cap="none" normalizeH="0" baseline="0">
                <a:ln>
                  <a:noFill/>
                </a:ln>
                <a:solidFill>
                  <a:schemeClr val="tx1"/>
                </a:solidFill>
                <a:effectLst/>
                <a:latin typeface="Arial" panose="020B0604020202020204" pitchFamily="34" charset="0"/>
              </a:rPr>
              <a:t>InceptionV3</a:t>
            </a:r>
            <a:r>
              <a:rPr kumimoji="0" lang="en-US" altLang="en-US" sz="1400" b="0" i="0" u="none" strike="noStrike" cap="none" normalizeH="0" baseline="0">
                <a:ln>
                  <a:noFill/>
                </a:ln>
                <a:solidFill>
                  <a:schemeClr val="tx1"/>
                </a:solidFill>
                <a:effectLst/>
                <a:latin typeface="Arial" panose="020B0604020202020204" pitchFamily="34" charset="0"/>
              </a:rPr>
              <a:t> (đã tinh chỉnh) để tự động phân loại và loại bỏ các ảnh chụp lâm sàng (chụp xa hoặc cận cảnh nhưng không qua kính soi da) với độ chính xác khoảng 98,68%.</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anose="020B0604020202020204" pitchFamily="34" charset="0"/>
              </a:rPr>
              <a:t>• </a:t>
            </a:r>
            <a:r>
              <a:rPr kumimoji="0" lang="en-US" altLang="en-US" sz="1400" b="1" i="0" u="none" strike="noStrike" cap="none" normalizeH="0" baseline="0">
                <a:ln>
                  <a:noFill/>
                </a:ln>
                <a:solidFill>
                  <a:schemeClr val="tx1"/>
                </a:solidFill>
                <a:effectLst/>
                <a:latin typeface="Arial" panose="020B0604020202020204" pitchFamily="34" charset="0"/>
              </a:rPr>
              <a:t>Hiệu chỉnh thủ công:</a:t>
            </a:r>
            <a:r>
              <a:rPr kumimoji="0" lang="en-US" altLang="en-US" sz="1400" b="0" i="0" u="none" strike="noStrike" cap="none" normalizeH="0" baseline="0">
                <a:ln>
                  <a:noFill/>
                </a:ln>
                <a:solidFill>
                  <a:schemeClr val="tx1"/>
                </a:solidFill>
                <a:effectLst/>
                <a:latin typeface="Arial" panose="020B0604020202020204" pitchFamily="34" charset="0"/>
              </a:rPr>
              <a:t> Các hình ảnh được cắt (crop) thủ công về kích thước 800x600px và chỉnh sửa biểu đồ màu (histogram) để khắc phục các lỗi về phơi sáng hoặc ám màu, đảm bảo chất lượng hình ảnh đồng nhất</a:t>
            </a:r>
          </a:p>
        </p:txBody>
      </p:sp>
      <p:pic>
        <p:nvPicPr>
          <p:cNvPr id="9" name="Picture 8" descr="Close-up of a black spot on skin&#10;&#10;AI-generated content may be incorrect.">
            <a:extLst>
              <a:ext uri="{FF2B5EF4-FFF2-40B4-BE49-F238E27FC236}">
                <a16:creationId xmlns:a16="http://schemas.microsoft.com/office/drawing/2014/main" id="{0D30AD2E-E678-C7F1-02D1-1AE5C629F6A9}"/>
              </a:ext>
            </a:extLst>
          </p:cNvPr>
          <p:cNvPicPr>
            <a:picLocks noChangeAspect="1"/>
          </p:cNvPicPr>
          <p:nvPr/>
        </p:nvPicPr>
        <p:blipFill>
          <a:blip r:embed="rId3"/>
          <a:stretch>
            <a:fillRect/>
          </a:stretch>
        </p:blipFill>
        <p:spPr>
          <a:xfrm>
            <a:off x="175499" y="3747037"/>
            <a:ext cx="5370216" cy="2571848"/>
          </a:xfrm>
          <a:prstGeom prst="rect">
            <a:avLst/>
          </a:prstGeom>
        </p:spPr>
      </p:pic>
      <p:pic>
        <p:nvPicPr>
          <p:cNvPr id="11" name="Picture 10" descr="A close-up of a black spot&#10;&#10;AI-generated content may be incorrect.">
            <a:extLst>
              <a:ext uri="{FF2B5EF4-FFF2-40B4-BE49-F238E27FC236}">
                <a16:creationId xmlns:a16="http://schemas.microsoft.com/office/drawing/2014/main" id="{EC09B011-0B69-05D2-B4CF-8875B00A6E2D}"/>
              </a:ext>
            </a:extLst>
          </p:cNvPr>
          <p:cNvPicPr>
            <a:picLocks noChangeAspect="1"/>
          </p:cNvPicPr>
          <p:nvPr/>
        </p:nvPicPr>
        <p:blipFill>
          <a:blip r:embed="rId4"/>
          <a:stretch>
            <a:fillRect/>
          </a:stretch>
        </p:blipFill>
        <p:spPr>
          <a:xfrm>
            <a:off x="5545715" y="4511161"/>
            <a:ext cx="6169895" cy="2066224"/>
          </a:xfrm>
          <a:prstGeom prst="rect">
            <a:avLst/>
          </a:prstGeom>
        </p:spPr>
      </p:pic>
    </p:spTree>
    <p:extLst>
      <p:ext uri="{BB962C8B-B14F-4D97-AF65-F5344CB8AC3E}">
        <p14:creationId xmlns:p14="http://schemas.microsoft.com/office/powerpoint/2010/main" val="3077428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ack screen with white text&#10;&#10;AI-generated content may be incorrect.">
            <a:extLst>
              <a:ext uri="{FF2B5EF4-FFF2-40B4-BE49-F238E27FC236}">
                <a16:creationId xmlns:a16="http://schemas.microsoft.com/office/drawing/2014/main" id="{300E747A-9CD9-FB4E-7126-01431D330271}"/>
              </a:ext>
            </a:extLst>
          </p:cNvPr>
          <p:cNvPicPr>
            <a:picLocks noChangeAspect="1"/>
          </p:cNvPicPr>
          <p:nvPr/>
        </p:nvPicPr>
        <p:blipFill>
          <a:blip r:embed="rId2"/>
          <a:stretch>
            <a:fillRect/>
          </a:stretch>
        </p:blipFill>
        <p:spPr>
          <a:xfrm>
            <a:off x="184205" y="5299391"/>
            <a:ext cx="7222435" cy="1294449"/>
          </a:xfrm>
          <a:prstGeom prst="rect">
            <a:avLst/>
          </a:prstGeom>
        </p:spPr>
      </p:pic>
      <p:pic>
        <p:nvPicPr>
          <p:cNvPr id="6" name="Picture 5" descr="A collage of different skin diseases&#10;&#10;AI-generated content may be incorrect.">
            <a:extLst>
              <a:ext uri="{FF2B5EF4-FFF2-40B4-BE49-F238E27FC236}">
                <a16:creationId xmlns:a16="http://schemas.microsoft.com/office/drawing/2014/main" id="{869E772E-D453-DFEC-159D-BD1BBD5C6A18}"/>
              </a:ext>
            </a:extLst>
          </p:cNvPr>
          <p:cNvPicPr>
            <a:picLocks noChangeAspect="1"/>
          </p:cNvPicPr>
          <p:nvPr/>
        </p:nvPicPr>
        <p:blipFill>
          <a:blip r:embed="rId3"/>
          <a:stretch>
            <a:fillRect/>
          </a:stretch>
        </p:blipFill>
        <p:spPr>
          <a:xfrm>
            <a:off x="7556126" y="147320"/>
            <a:ext cx="4496109" cy="2064647"/>
          </a:xfrm>
          <a:prstGeom prst="rect">
            <a:avLst/>
          </a:prstGeom>
        </p:spPr>
      </p:pic>
      <p:graphicFrame>
        <p:nvGraphicFramePr>
          <p:cNvPr id="7" name="Table 6">
            <a:extLst>
              <a:ext uri="{FF2B5EF4-FFF2-40B4-BE49-F238E27FC236}">
                <a16:creationId xmlns:a16="http://schemas.microsoft.com/office/drawing/2014/main" id="{3B028730-248B-823B-A270-6E3882F725AE}"/>
              </a:ext>
            </a:extLst>
          </p:cNvPr>
          <p:cNvGraphicFramePr>
            <a:graphicFrameLocks noGrp="1"/>
          </p:cNvGraphicFramePr>
          <p:nvPr>
            <p:extLst>
              <p:ext uri="{D42A27DB-BD31-4B8C-83A1-F6EECF244321}">
                <p14:modId xmlns:p14="http://schemas.microsoft.com/office/powerpoint/2010/main" val="2488783095"/>
              </p:ext>
            </p:extLst>
          </p:nvPr>
        </p:nvGraphicFramePr>
        <p:xfrm>
          <a:off x="224844" y="1645920"/>
          <a:ext cx="7181795" cy="3499925"/>
        </p:xfrm>
        <a:graphic>
          <a:graphicData uri="http://schemas.openxmlformats.org/drawingml/2006/table">
            <a:tbl>
              <a:tblPr firstRow="1" bandRow="1">
                <a:tableStyleId>{5C22544A-7EE6-4342-B048-85BDC9FD1C3A}</a:tableStyleId>
              </a:tblPr>
              <a:tblGrid>
                <a:gridCol w="1795449">
                  <a:extLst>
                    <a:ext uri="{9D8B030D-6E8A-4147-A177-3AD203B41FA5}">
                      <a16:colId xmlns:a16="http://schemas.microsoft.com/office/drawing/2014/main" val="2330583350"/>
                    </a:ext>
                  </a:extLst>
                </a:gridCol>
                <a:gridCol w="1945913">
                  <a:extLst>
                    <a:ext uri="{9D8B030D-6E8A-4147-A177-3AD203B41FA5}">
                      <a16:colId xmlns:a16="http://schemas.microsoft.com/office/drawing/2014/main" val="2933609995"/>
                    </a:ext>
                  </a:extLst>
                </a:gridCol>
                <a:gridCol w="1644984">
                  <a:extLst>
                    <a:ext uri="{9D8B030D-6E8A-4147-A177-3AD203B41FA5}">
                      <a16:colId xmlns:a16="http://schemas.microsoft.com/office/drawing/2014/main" val="261708495"/>
                    </a:ext>
                  </a:extLst>
                </a:gridCol>
                <a:gridCol w="1795449">
                  <a:extLst>
                    <a:ext uri="{9D8B030D-6E8A-4147-A177-3AD203B41FA5}">
                      <a16:colId xmlns:a16="http://schemas.microsoft.com/office/drawing/2014/main" val="1343339896"/>
                    </a:ext>
                  </a:extLst>
                </a:gridCol>
              </a:tblGrid>
              <a:tr h="299525">
                <a:tc>
                  <a:txBody>
                    <a:bodyPr/>
                    <a:lstStyle/>
                    <a:p>
                      <a:r>
                        <a:rPr lang="en-US" sz="1100"/>
                        <a:t>Mã</a:t>
                      </a:r>
                    </a:p>
                  </a:txBody>
                  <a:tcPr/>
                </a:tc>
                <a:tc>
                  <a:txBody>
                    <a:bodyPr/>
                    <a:lstStyle/>
                    <a:p>
                      <a:r>
                        <a:rPr lang="en-US" sz="1100"/>
                        <a:t>Tên đầy đủ</a:t>
                      </a:r>
                    </a:p>
                  </a:txBody>
                  <a:tcPr/>
                </a:tc>
                <a:tc>
                  <a:txBody>
                    <a:bodyPr/>
                    <a:lstStyle/>
                    <a:p>
                      <a:r>
                        <a:rPr lang="en-US" sz="1100"/>
                        <a:t>Đặc điểm</a:t>
                      </a:r>
                    </a:p>
                  </a:txBody>
                  <a:tcPr/>
                </a:tc>
                <a:tc>
                  <a:txBody>
                    <a:bodyPr/>
                    <a:lstStyle/>
                    <a:p>
                      <a:r>
                        <a:rPr lang="en-US" sz="1100"/>
                        <a:t>Độ nguy hiểm</a:t>
                      </a:r>
                    </a:p>
                  </a:txBody>
                  <a:tcPr/>
                </a:tc>
                <a:extLst>
                  <a:ext uri="{0D108BD9-81ED-4DB2-BD59-A6C34878D82A}">
                    <a16:rowId xmlns:a16="http://schemas.microsoft.com/office/drawing/2014/main" val="1186022215"/>
                  </a:ext>
                </a:extLst>
              </a:tr>
              <a:tr h="493334">
                <a:tc>
                  <a:txBody>
                    <a:bodyPr/>
                    <a:lstStyle/>
                    <a:p>
                      <a:r>
                        <a:rPr lang="en-US" sz="1400"/>
                        <a:t>MEL</a:t>
                      </a:r>
                    </a:p>
                  </a:txBody>
                  <a:tcPr/>
                </a:tc>
                <a:tc>
                  <a:txBody>
                    <a:bodyPr/>
                    <a:lstStyle/>
                    <a:p>
                      <a:r>
                        <a:rPr lang="en-US" sz="1400"/>
                        <a:t>Melanoma</a:t>
                      </a:r>
                    </a:p>
                  </a:txBody>
                  <a:tcPr/>
                </a:tc>
                <a:tc>
                  <a:txBody>
                    <a:bodyPr/>
                    <a:lstStyle/>
                    <a:p>
                      <a:r>
                        <a:rPr lang="en-US" sz="1400"/>
                        <a:t>U ác tính từ tế bào melanocyte</a:t>
                      </a:r>
                    </a:p>
                  </a:txBody>
                  <a:tcPr/>
                </a:tc>
                <a:tc>
                  <a:txBody>
                    <a:bodyPr/>
                    <a:lstStyle/>
                    <a:p>
                      <a:r>
                        <a:rPr lang="vi-VN" sz="1400" b="1"/>
                        <a:t>CAO</a:t>
                      </a:r>
                      <a:r>
                        <a:rPr lang="vi-VN" sz="1400"/>
                        <a:t> - Ung thư da nguy hiểm nhất</a:t>
                      </a:r>
                      <a:endParaRPr lang="en-US" sz="1400"/>
                    </a:p>
                  </a:txBody>
                  <a:tcPr/>
                </a:tc>
                <a:extLst>
                  <a:ext uri="{0D108BD9-81ED-4DB2-BD59-A6C34878D82A}">
                    <a16:rowId xmlns:a16="http://schemas.microsoft.com/office/drawing/2014/main" val="1117176888"/>
                  </a:ext>
                </a:extLst>
              </a:tr>
              <a:tr h="299525">
                <a:tc>
                  <a:txBody>
                    <a:bodyPr/>
                    <a:lstStyle/>
                    <a:p>
                      <a:r>
                        <a:rPr lang="en-US" sz="1400"/>
                        <a:t>NV</a:t>
                      </a:r>
                    </a:p>
                  </a:txBody>
                  <a:tcPr/>
                </a:tc>
                <a:tc>
                  <a:txBody>
                    <a:bodyPr/>
                    <a:lstStyle/>
                    <a:p>
                      <a:r>
                        <a:rPr lang="en-US" sz="1400"/>
                        <a:t>Melanocytic Nevi</a:t>
                      </a:r>
                    </a:p>
                  </a:txBody>
                  <a:tcPr/>
                </a:tc>
                <a:tc>
                  <a:txBody>
                    <a:bodyPr/>
                    <a:lstStyle/>
                    <a:p>
                      <a:r>
                        <a:rPr lang="en-US" sz="1400"/>
                        <a:t>Nốt ruồi lành tính</a:t>
                      </a:r>
                    </a:p>
                  </a:txBody>
                  <a:tcPr/>
                </a:tc>
                <a:tc>
                  <a:txBody>
                    <a:bodyPr/>
                    <a:lstStyle/>
                    <a:p>
                      <a:r>
                        <a:rPr lang="en-US" sz="1400"/>
                        <a:t>Lành tính</a:t>
                      </a:r>
                    </a:p>
                  </a:txBody>
                  <a:tcPr/>
                </a:tc>
                <a:extLst>
                  <a:ext uri="{0D108BD9-81ED-4DB2-BD59-A6C34878D82A}">
                    <a16:rowId xmlns:a16="http://schemas.microsoft.com/office/drawing/2014/main" val="3315461375"/>
                  </a:ext>
                </a:extLst>
              </a:tr>
              <a:tr h="493334">
                <a:tc>
                  <a:txBody>
                    <a:bodyPr/>
                    <a:lstStyle/>
                    <a:p>
                      <a:r>
                        <a:rPr lang="en-US" sz="1400"/>
                        <a:t>BCC</a:t>
                      </a:r>
                    </a:p>
                  </a:txBody>
                  <a:tcPr/>
                </a:tc>
                <a:tc>
                  <a:txBody>
                    <a:bodyPr/>
                    <a:lstStyle/>
                    <a:p>
                      <a:r>
                        <a:rPr lang="en-US" sz="1400"/>
                        <a:t>Basal Cell Carcinoma</a:t>
                      </a:r>
                    </a:p>
                  </a:txBody>
                  <a:tcPr/>
                </a:tc>
                <a:tc>
                  <a:txBody>
                    <a:bodyPr/>
                    <a:lstStyle/>
                    <a:p>
                      <a:r>
                        <a:rPr lang="vi-VN" sz="1400"/>
                        <a:t>Ung thư tế bào đáy, ít di căn</a:t>
                      </a:r>
                      <a:endParaRPr lang="en-US" sz="1400"/>
                    </a:p>
                  </a:txBody>
                  <a:tcPr/>
                </a:tc>
                <a:tc>
                  <a:txBody>
                    <a:bodyPr/>
                    <a:lstStyle/>
                    <a:p>
                      <a:r>
                        <a:rPr lang="en-US" sz="1400"/>
                        <a:t>Trung bình - Phá hủy cục bộ</a:t>
                      </a:r>
                    </a:p>
                  </a:txBody>
                  <a:tcPr/>
                </a:tc>
                <a:extLst>
                  <a:ext uri="{0D108BD9-81ED-4DB2-BD59-A6C34878D82A}">
                    <a16:rowId xmlns:a16="http://schemas.microsoft.com/office/drawing/2014/main" val="926968177"/>
                  </a:ext>
                </a:extLst>
              </a:tr>
              <a:tr h="493334">
                <a:tc>
                  <a:txBody>
                    <a:bodyPr/>
                    <a:lstStyle/>
                    <a:p>
                      <a:r>
                        <a:rPr lang="en-US" sz="1400"/>
                        <a:t>AKIEC</a:t>
                      </a:r>
                    </a:p>
                  </a:txBody>
                  <a:tcPr/>
                </a:tc>
                <a:tc>
                  <a:txBody>
                    <a:bodyPr/>
                    <a:lstStyle/>
                    <a:p>
                      <a:r>
                        <a:rPr lang="en-US" sz="1400"/>
                        <a:t>Actinic Keratoses/Bowen's</a:t>
                      </a:r>
                    </a:p>
                  </a:txBody>
                  <a:tcPr/>
                </a:tc>
                <a:tc>
                  <a:txBody>
                    <a:bodyPr/>
                    <a:lstStyle/>
                    <a:p>
                      <a:r>
                        <a:rPr lang="vi-VN" sz="1400"/>
                        <a:t>Tiền ung thư/ung thư tại chỗ</a:t>
                      </a:r>
                      <a:endParaRPr lang="en-US" sz="1400"/>
                    </a:p>
                  </a:txBody>
                  <a:tcPr/>
                </a:tc>
                <a:tc>
                  <a:txBody>
                    <a:bodyPr/>
                    <a:lstStyle/>
                    <a:p>
                      <a:r>
                        <a:rPr lang="en-US" sz="1400"/>
                        <a:t>Thấp - Có thể tiến triển</a:t>
                      </a:r>
                    </a:p>
                  </a:txBody>
                  <a:tcPr/>
                </a:tc>
                <a:extLst>
                  <a:ext uri="{0D108BD9-81ED-4DB2-BD59-A6C34878D82A}">
                    <a16:rowId xmlns:a16="http://schemas.microsoft.com/office/drawing/2014/main" val="1405486092"/>
                  </a:ext>
                </a:extLst>
              </a:tr>
              <a:tr h="493334">
                <a:tc>
                  <a:txBody>
                    <a:bodyPr/>
                    <a:lstStyle/>
                    <a:p>
                      <a:r>
                        <a:rPr lang="en-US" sz="1400"/>
                        <a:t>BKL</a:t>
                      </a:r>
                    </a:p>
                  </a:txBody>
                  <a:tcPr/>
                </a:tc>
                <a:tc>
                  <a:txBody>
                    <a:bodyPr/>
                    <a:lstStyle/>
                    <a:p>
                      <a:r>
                        <a:rPr lang="en-US" sz="1400"/>
                        <a:t>Benign Keratosis</a:t>
                      </a:r>
                    </a:p>
                  </a:txBody>
                  <a:tcPr/>
                </a:tc>
                <a:tc>
                  <a:txBody>
                    <a:bodyPr/>
                    <a:lstStyle/>
                    <a:p>
                      <a:r>
                        <a:rPr lang="en-US" sz="1400"/>
                        <a:t>U sừng lành tính, u mảng sừng</a:t>
                      </a:r>
                    </a:p>
                  </a:txBody>
                  <a:tcPr/>
                </a:tc>
                <a:tc>
                  <a:txBody>
                    <a:bodyPr/>
                    <a:lstStyle/>
                    <a:p>
                      <a:r>
                        <a:rPr lang="en-US" sz="1400"/>
                        <a:t>Lành tính</a:t>
                      </a:r>
                    </a:p>
                  </a:txBody>
                  <a:tcPr/>
                </a:tc>
                <a:extLst>
                  <a:ext uri="{0D108BD9-81ED-4DB2-BD59-A6C34878D82A}">
                    <a16:rowId xmlns:a16="http://schemas.microsoft.com/office/drawing/2014/main" val="1106973685"/>
                  </a:ext>
                </a:extLst>
              </a:tr>
              <a:tr h="299525">
                <a:tc>
                  <a:txBody>
                    <a:bodyPr/>
                    <a:lstStyle/>
                    <a:p>
                      <a:r>
                        <a:rPr lang="en-US" sz="1400"/>
                        <a:t>DF</a:t>
                      </a:r>
                    </a:p>
                  </a:txBody>
                  <a:tcPr/>
                </a:tc>
                <a:tc>
                  <a:txBody>
                    <a:bodyPr/>
                    <a:lstStyle/>
                    <a:p>
                      <a:r>
                        <a:rPr lang="en-US" sz="1400"/>
                        <a:t>Dermatofibroma</a:t>
                      </a:r>
                    </a:p>
                  </a:txBody>
                  <a:tcPr/>
                </a:tc>
                <a:tc>
                  <a:txBody>
                    <a:bodyPr/>
                    <a:lstStyle/>
                    <a:p>
                      <a:r>
                        <a:rPr lang="pt-BR" sz="1400"/>
                        <a:t>U xơ da lành tính</a:t>
                      </a:r>
                      <a:endParaRPr lang="en-US" sz="1400"/>
                    </a:p>
                  </a:txBody>
                  <a:tcPr/>
                </a:tc>
                <a:tc>
                  <a:txBody>
                    <a:bodyPr/>
                    <a:lstStyle/>
                    <a:p>
                      <a:r>
                        <a:rPr lang="en-US" sz="1400"/>
                        <a:t>Lành tính</a:t>
                      </a:r>
                    </a:p>
                  </a:txBody>
                  <a:tcPr/>
                </a:tc>
                <a:extLst>
                  <a:ext uri="{0D108BD9-81ED-4DB2-BD59-A6C34878D82A}">
                    <a16:rowId xmlns:a16="http://schemas.microsoft.com/office/drawing/2014/main" val="3563429954"/>
                  </a:ext>
                </a:extLst>
              </a:tr>
              <a:tr h="493334">
                <a:tc>
                  <a:txBody>
                    <a:bodyPr/>
                    <a:lstStyle/>
                    <a:p>
                      <a:r>
                        <a:rPr lang="en-US" sz="1400"/>
                        <a:t>VASC</a:t>
                      </a:r>
                    </a:p>
                  </a:txBody>
                  <a:tcPr/>
                </a:tc>
                <a:tc>
                  <a:txBody>
                    <a:bodyPr/>
                    <a:lstStyle/>
                    <a:p>
                      <a:r>
                        <a:rPr lang="en-US" sz="1400"/>
                        <a:t>Vascular Lesions</a:t>
                      </a:r>
                    </a:p>
                  </a:txBody>
                  <a:tcPr/>
                </a:tc>
                <a:tc>
                  <a:txBody>
                    <a:bodyPr/>
                    <a:lstStyle/>
                    <a:p>
                      <a:r>
                        <a:rPr lang="vi-VN" sz="1400"/>
                        <a:t>Tổn thương mạch máu</a:t>
                      </a:r>
                      <a:endParaRPr lang="en-US" sz="1400"/>
                    </a:p>
                  </a:txBody>
                  <a:tcPr/>
                </a:tc>
                <a:tc>
                  <a:txBody>
                    <a:bodyPr/>
                    <a:lstStyle/>
                    <a:p>
                      <a:r>
                        <a:rPr lang="en-US" sz="1400"/>
                        <a:t>Lành tính</a:t>
                      </a:r>
                    </a:p>
                  </a:txBody>
                  <a:tcPr/>
                </a:tc>
                <a:extLst>
                  <a:ext uri="{0D108BD9-81ED-4DB2-BD59-A6C34878D82A}">
                    <a16:rowId xmlns:a16="http://schemas.microsoft.com/office/drawing/2014/main" val="2583045487"/>
                  </a:ext>
                </a:extLst>
              </a:tr>
            </a:tbl>
          </a:graphicData>
        </a:graphic>
      </p:graphicFrame>
      <p:sp>
        <p:nvSpPr>
          <p:cNvPr id="8" name="TextBox 7">
            <a:extLst>
              <a:ext uri="{FF2B5EF4-FFF2-40B4-BE49-F238E27FC236}">
                <a16:creationId xmlns:a16="http://schemas.microsoft.com/office/drawing/2014/main" id="{24C29E2E-E354-09DF-4412-EED4404737C3}"/>
              </a:ext>
            </a:extLst>
          </p:cNvPr>
          <p:cNvSpPr txBox="1"/>
          <p:nvPr/>
        </p:nvSpPr>
        <p:spPr>
          <a:xfrm>
            <a:off x="324016" y="810311"/>
            <a:ext cx="3471406" cy="369332"/>
          </a:xfrm>
          <a:prstGeom prst="rect">
            <a:avLst/>
          </a:prstGeom>
          <a:noFill/>
        </p:spPr>
        <p:txBody>
          <a:bodyPr wrap="square" rtlCol="0">
            <a:spAutoFit/>
          </a:bodyPr>
          <a:lstStyle/>
          <a:p>
            <a:r>
              <a:rPr lang="en-US" b="1"/>
              <a:t>Dataset: ISIC2018 task 3</a:t>
            </a:r>
          </a:p>
        </p:txBody>
      </p:sp>
      <p:pic>
        <p:nvPicPr>
          <p:cNvPr id="9" name="Picture 8" descr="A screenshot of a table&#10;&#10;AI-generated content may be incorrect.">
            <a:extLst>
              <a:ext uri="{FF2B5EF4-FFF2-40B4-BE49-F238E27FC236}">
                <a16:creationId xmlns:a16="http://schemas.microsoft.com/office/drawing/2014/main" id="{BF6FAA7B-32D2-32D4-254E-C3FA2AB96C16}"/>
              </a:ext>
            </a:extLst>
          </p:cNvPr>
          <p:cNvPicPr>
            <a:picLocks noChangeAspect="1"/>
          </p:cNvPicPr>
          <p:nvPr/>
        </p:nvPicPr>
        <p:blipFill>
          <a:blip r:embed="rId4"/>
          <a:stretch>
            <a:fillRect/>
          </a:stretch>
        </p:blipFill>
        <p:spPr>
          <a:xfrm>
            <a:off x="7538983" y="2954792"/>
            <a:ext cx="4513252" cy="3100568"/>
          </a:xfrm>
          <a:prstGeom prst="rect">
            <a:avLst/>
          </a:prstGeom>
        </p:spPr>
      </p:pic>
      <p:sp>
        <p:nvSpPr>
          <p:cNvPr id="10" name="TextBox 9">
            <a:extLst>
              <a:ext uri="{FF2B5EF4-FFF2-40B4-BE49-F238E27FC236}">
                <a16:creationId xmlns:a16="http://schemas.microsoft.com/office/drawing/2014/main" id="{0791B17C-1DE2-8613-DCFE-919F16857313}"/>
              </a:ext>
            </a:extLst>
          </p:cNvPr>
          <p:cNvSpPr txBox="1"/>
          <p:nvPr/>
        </p:nvSpPr>
        <p:spPr>
          <a:xfrm>
            <a:off x="9431640" y="2211967"/>
            <a:ext cx="1195720" cy="369332"/>
          </a:xfrm>
          <a:prstGeom prst="rect">
            <a:avLst/>
          </a:prstGeom>
          <a:noFill/>
        </p:spPr>
        <p:txBody>
          <a:bodyPr wrap="square" rtlCol="0">
            <a:spAutoFit/>
          </a:bodyPr>
          <a:lstStyle/>
          <a:p>
            <a:r>
              <a:rPr lang="en-US" b="1"/>
              <a:t>image</a:t>
            </a:r>
          </a:p>
        </p:txBody>
      </p:sp>
      <p:sp>
        <p:nvSpPr>
          <p:cNvPr id="11" name="TextBox 10">
            <a:extLst>
              <a:ext uri="{FF2B5EF4-FFF2-40B4-BE49-F238E27FC236}">
                <a16:creationId xmlns:a16="http://schemas.microsoft.com/office/drawing/2014/main" id="{15D4FC59-CAA6-8D30-07D3-7D3BEEC2C1E1}"/>
              </a:ext>
            </a:extLst>
          </p:cNvPr>
          <p:cNvSpPr txBox="1"/>
          <p:nvPr/>
        </p:nvSpPr>
        <p:spPr>
          <a:xfrm>
            <a:off x="9330040" y="6224508"/>
            <a:ext cx="2018680" cy="369332"/>
          </a:xfrm>
          <a:prstGeom prst="rect">
            <a:avLst/>
          </a:prstGeom>
          <a:noFill/>
        </p:spPr>
        <p:txBody>
          <a:bodyPr wrap="square" rtlCol="0">
            <a:spAutoFit/>
          </a:bodyPr>
          <a:lstStyle/>
          <a:p>
            <a:r>
              <a:rPr lang="en-US" b="1"/>
              <a:t>GroundTruth</a:t>
            </a:r>
          </a:p>
        </p:txBody>
      </p:sp>
      <p:pic>
        <p:nvPicPr>
          <p:cNvPr id="13" name="Picture 12" descr="A screenshot of a computer&#10;&#10;AI-generated content may be incorrect.">
            <a:extLst>
              <a:ext uri="{FF2B5EF4-FFF2-40B4-BE49-F238E27FC236}">
                <a16:creationId xmlns:a16="http://schemas.microsoft.com/office/drawing/2014/main" id="{1B865C42-E9D7-CD1E-3969-13CCB7E8ED3C}"/>
              </a:ext>
            </a:extLst>
          </p:cNvPr>
          <p:cNvPicPr>
            <a:picLocks noChangeAspect="1"/>
          </p:cNvPicPr>
          <p:nvPr/>
        </p:nvPicPr>
        <p:blipFill>
          <a:blip r:embed="rId5"/>
          <a:stretch>
            <a:fillRect/>
          </a:stretch>
        </p:blipFill>
        <p:spPr>
          <a:xfrm>
            <a:off x="5334000" y="179054"/>
            <a:ext cx="2072639" cy="1403417"/>
          </a:xfrm>
          <a:prstGeom prst="rect">
            <a:avLst/>
          </a:prstGeom>
        </p:spPr>
      </p:pic>
    </p:spTree>
    <p:extLst>
      <p:ext uri="{BB962C8B-B14F-4D97-AF65-F5344CB8AC3E}">
        <p14:creationId xmlns:p14="http://schemas.microsoft.com/office/powerpoint/2010/main" val="3471463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structure&#10;&#10;AI-generated content may be incorrect.">
            <a:extLst>
              <a:ext uri="{FF2B5EF4-FFF2-40B4-BE49-F238E27FC236}">
                <a16:creationId xmlns:a16="http://schemas.microsoft.com/office/drawing/2014/main" id="{B7F54EAB-07EF-1FB9-9586-B1F3C43466D2}"/>
              </a:ext>
            </a:extLst>
          </p:cNvPr>
          <p:cNvPicPr>
            <a:picLocks noChangeAspect="1"/>
          </p:cNvPicPr>
          <p:nvPr/>
        </p:nvPicPr>
        <p:blipFill>
          <a:blip r:embed="rId2"/>
          <a:stretch>
            <a:fillRect/>
          </a:stretch>
        </p:blipFill>
        <p:spPr>
          <a:xfrm>
            <a:off x="104418" y="1178347"/>
            <a:ext cx="7958741" cy="5192635"/>
          </a:xfrm>
          <a:prstGeom prst="rect">
            <a:avLst/>
          </a:prstGeom>
        </p:spPr>
      </p:pic>
      <p:sp>
        <p:nvSpPr>
          <p:cNvPr id="4" name="Rectangle 1">
            <a:extLst>
              <a:ext uri="{FF2B5EF4-FFF2-40B4-BE49-F238E27FC236}">
                <a16:creationId xmlns:a16="http://schemas.microsoft.com/office/drawing/2014/main" id="{B3EB4B20-8F92-9D34-4680-852744EFB543}"/>
              </a:ext>
            </a:extLst>
          </p:cNvPr>
          <p:cNvSpPr>
            <a:spLocks noChangeArrowheads="1"/>
          </p:cNvSpPr>
          <p:nvPr/>
        </p:nvSpPr>
        <p:spPr bwMode="auto">
          <a:xfrm>
            <a:off x="6437244" y="738672"/>
            <a:ext cx="5754756"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anose="020B0604020202020204" pitchFamily="34" charset="0"/>
              </a:rPr>
              <a:t>• </a:t>
            </a:r>
            <a:r>
              <a:rPr kumimoji="0" lang="en-US" altLang="en-US" sz="1400" b="1" i="0" u="none" strike="noStrike" cap="none" normalizeH="0" baseline="0">
                <a:ln>
                  <a:noFill/>
                </a:ln>
                <a:solidFill>
                  <a:schemeClr val="tx1"/>
                </a:solidFill>
                <a:effectLst/>
                <a:latin typeface="Arial" panose="020B0604020202020204" pitchFamily="34" charset="0"/>
              </a:rPr>
              <a:t>CNN (Cục bộ):</a:t>
            </a:r>
            <a:r>
              <a:rPr kumimoji="0" lang="en-US" altLang="en-US" sz="1400" b="0" i="0" u="none" strike="noStrike" cap="none" normalizeH="0" baseline="0">
                <a:ln>
                  <a:noFill/>
                </a:ln>
                <a:solidFill>
                  <a:schemeClr val="tx1"/>
                </a:solidFill>
                <a:effectLst/>
                <a:latin typeface="Arial" panose="020B0604020202020204" pitchFamily="34" charset="0"/>
              </a:rPr>
              <a:t> Sử dụng các bộ lọc (filters) để quét các đặc trưng cục bộ. Để hiểu được toàn bộ khuôn mặt, CNN phải qua nhiều lớp để mở rộng "trường nhìn" (field of view).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Arial" panose="020B0604020202020204" pitchFamily="34" charset="0"/>
              </a:rPr>
              <a:t>• </a:t>
            </a:r>
            <a:r>
              <a:rPr kumimoji="0" lang="en-US" altLang="en-US" sz="1400" b="1" i="0" u="none" strike="noStrike" cap="none" normalizeH="0" baseline="0">
                <a:ln>
                  <a:noFill/>
                </a:ln>
                <a:solidFill>
                  <a:schemeClr val="tx1"/>
                </a:solidFill>
                <a:effectLst/>
                <a:latin typeface="Arial" panose="020B0604020202020204" pitchFamily="34" charset="0"/>
              </a:rPr>
              <a:t>ViT (Toàn cục):</a:t>
            </a:r>
            <a:r>
              <a:rPr kumimoji="0" lang="en-US" altLang="en-US" sz="1400" b="0" i="0" u="none" strike="noStrike" cap="none" normalizeH="0" baseline="0">
                <a:ln>
                  <a:noFill/>
                </a:ln>
                <a:solidFill>
                  <a:schemeClr val="tx1"/>
                </a:solidFill>
                <a:effectLst/>
                <a:latin typeface="Arial" panose="020B0604020202020204" pitchFamily="34" charset="0"/>
              </a:rPr>
              <a:t> Nhờ cơ chế </a:t>
            </a:r>
            <a:r>
              <a:rPr kumimoji="0" lang="en-US" altLang="en-US" sz="1400" b="1" i="0" u="none" strike="noStrike" cap="none" normalizeH="0" baseline="0">
                <a:ln>
                  <a:noFill/>
                </a:ln>
                <a:solidFill>
                  <a:schemeClr val="tx1"/>
                </a:solidFill>
                <a:effectLst/>
                <a:latin typeface="Arial" panose="020B0604020202020204" pitchFamily="34" charset="0"/>
              </a:rPr>
              <a:t>Self-Attention</a:t>
            </a:r>
            <a:r>
              <a:rPr kumimoji="0" lang="en-US" altLang="en-US" sz="1400" b="0" i="0" u="none" strike="noStrike" cap="none" normalizeH="0" baseline="0">
                <a:ln>
                  <a:noFill/>
                </a:ln>
                <a:solidFill>
                  <a:schemeClr val="tx1"/>
                </a:solidFill>
                <a:effectLst/>
                <a:latin typeface="Arial" panose="020B0604020202020204" pitchFamily="34" charset="0"/>
              </a:rPr>
              <a:t> (Tự chú ý), ViT có khả năng quan sát toàn bộ bức ảnh ngay từ lớp đầu tiên. Nó chia ảnh thành các mảnh (tokens) và học mối quan hệ giữa các mảnh.</a:t>
            </a:r>
          </a:p>
        </p:txBody>
      </p:sp>
      <p:pic>
        <p:nvPicPr>
          <p:cNvPr id="6" name="Picture 5" descr="A screenshot of a test&#10;&#10;AI-generated content may be incorrect.">
            <a:extLst>
              <a:ext uri="{FF2B5EF4-FFF2-40B4-BE49-F238E27FC236}">
                <a16:creationId xmlns:a16="http://schemas.microsoft.com/office/drawing/2014/main" id="{D37E1F6C-B98F-9F0F-8C67-A46E9546D7F9}"/>
              </a:ext>
            </a:extLst>
          </p:cNvPr>
          <p:cNvPicPr>
            <a:picLocks noChangeAspect="1"/>
          </p:cNvPicPr>
          <p:nvPr/>
        </p:nvPicPr>
        <p:blipFill>
          <a:blip r:embed="rId3"/>
          <a:stretch>
            <a:fillRect/>
          </a:stretch>
        </p:blipFill>
        <p:spPr>
          <a:xfrm>
            <a:off x="6437244" y="2650212"/>
            <a:ext cx="5299135" cy="1868679"/>
          </a:xfrm>
          <a:prstGeom prst="rect">
            <a:avLst/>
          </a:prstGeom>
        </p:spPr>
      </p:pic>
      <p:sp>
        <p:nvSpPr>
          <p:cNvPr id="7" name="TextBox 6">
            <a:extLst>
              <a:ext uri="{FF2B5EF4-FFF2-40B4-BE49-F238E27FC236}">
                <a16:creationId xmlns:a16="http://schemas.microsoft.com/office/drawing/2014/main" id="{88AB9A18-F4C7-4DC7-F6BF-31FBCC304D8F}"/>
              </a:ext>
            </a:extLst>
          </p:cNvPr>
          <p:cNvSpPr txBox="1"/>
          <p:nvPr/>
        </p:nvSpPr>
        <p:spPr>
          <a:xfrm>
            <a:off x="474870" y="369340"/>
            <a:ext cx="3471406" cy="369332"/>
          </a:xfrm>
          <a:prstGeom prst="rect">
            <a:avLst/>
          </a:prstGeom>
          <a:noFill/>
        </p:spPr>
        <p:txBody>
          <a:bodyPr wrap="square" rtlCol="0">
            <a:spAutoFit/>
          </a:bodyPr>
          <a:lstStyle/>
          <a:p>
            <a:r>
              <a:rPr lang="en-US" b="1"/>
              <a:t>ViT</a:t>
            </a:r>
          </a:p>
        </p:txBody>
      </p:sp>
    </p:spTree>
    <p:extLst>
      <p:ext uri="{BB962C8B-B14F-4D97-AF65-F5344CB8AC3E}">
        <p14:creationId xmlns:p14="http://schemas.microsoft.com/office/powerpoint/2010/main" val="1756177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061EE6-0610-C7AC-2A77-18F1042D847A}"/>
              </a:ext>
            </a:extLst>
          </p:cNvPr>
          <p:cNvSpPr txBox="1"/>
          <p:nvPr/>
        </p:nvSpPr>
        <p:spPr>
          <a:xfrm>
            <a:off x="474870" y="369340"/>
            <a:ext cx="3471406" cy="369332"/>
          </a:xfrm>
          <a:prstGeom prst="rect">
            <a:avLst/>
          </a:prstGeom>
          <a:noFill/>
        </p:spPr>
        <p:txBody>
          <a:bodyPr wrap="square" rtlCol="0">
            <a:spAutoFit/>
          </a:bodyPr>
          <a:lstStyle/>
          <a:p>
            <a:r>
              <a:rPr lang="en-US" b="1"/>
              <a:t>ViT xử lý ảnh như thế nào ?</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EA99358A-7E25-F2D0-C7F3-84397948543C}"/>
                  </a:ext>
                </a:extLst>
              </p:cNvPr>
              <p:cNvSpPr txBox="1"/>
              <p:nvPr/>
            </p:nvSpPr>
            <p:spPr>
              <a:xfrm>
                <a:off x="351847" y="889422"/>
                <a:ext cx="6741217" cy="1090555"/>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m:rPr>
                          <m:nor/>
                        </m:rPr>
                        <a:rPr lang="sv-SE" sz="3200" b="1" smtClean="0"/>
                        <m:t>Attention</m:t>
                      </m:r>
                      <m:r>
                        <m:rPr>
                          <m:nor/>
                        </m:rPr>
                        <a:rPr lang="sv-SE" sz="3200" b="1" smtClean="0"/>
                        <m:t>(</m:t>
                      </m:r>
                      <m:r>
                        <m:rPr>
                          <m:nor/>
                        </m:rPr>
                        <a:rPr lang="sv-SE" sz="3200" b="1" smtClean="0"/>
                        <m:t>Q</m:t>
                      </m:r>
                      <m:r>
                        <m:rPr>
                          <m:nor/>
                        </m:rPr>
                        <a:rPr lang="sv-SE" sz="3200" b="1" smtClean="0"/>
                        <m:t>,</m:t>
                      </m:r>
                      <m:r>
                        <m:rPr>
                          <m:nor/>
                        </m:rPr>
                        <a:rPr lang="sv-SE" sz="3200" b="1" smtClean="0"/>
                        <m:t>K</m:t>
                      </m:r>
                      <m:r>
                        <m:rPr>
                          <m:nor/>
                        </m:rPr>
                        <a:rPr lang="sv-SE" sz="3200" b="1" smtClean="0"/>
                        <m:t>,</m:t>
                      </m:r>
                      <m:r>
                        <m:rPr>
                          <m:nor/>
                        </m:rPr>
                        <a:rPr lang="sv-SE" sz="3200" b="1" smtClean="0"/>
                        <m:t>V</m:t>
                      </m:r>
                      <m:r>
                        <m:rPr>
                          <m:nor/>
                        </m:rPr>
                        <a:rPr lang="sv-SE" sz="3200" b="1" smtClean="0"/>
                        <m:t>)=</m:t>
                      </m:r>
                      <m:r>
                        <m:rPr>
                          <m:nor/>
                        </m:rPr>
                        <a:rPr lang="sv-SE" sz="3200" b="1" smtClean="0"/>
                        <m:t>softmax</m:t>
                      </m:r>
                      <m:r>
                        <m:rPr>
                          <m:nor/>
                        </m:rPr>
                        <a:rPr lang="en-US" sz="3200" b="1" i="0" smtClean="0"/>
                        <m:t>(</m:t>
                      </m:r>
                      <m:f>
                        <m:fPr>
                          <m:ctrlPr>
                            <a:rPr lang="en-US" sz="3200" b="1" i="1" smtClean="0">
                              <a:latin typeface="Cambria Math" panose="02040503050406030204" pitchFamily="18" charset="0"/>
                            </a:rPr>
                          </m:ctrlPr>
                        </m:fPr>
                        <m:num>
                          <m:r>
                            <a:rPr lang="en-US" sz="3200" b="1" i="1" smtClean="0">
                              <a:latin typeface="Cambria Math" panose="02040503050406030204" pitchFamily="18" charset="0"/>
                            </a:rPr>
                            <m:t>𝑸</m:t>
                          </m:r>
                          <m:sSup>
                            <m:sSupPr>
                              <m:ctrlPr>
                                <a:rPr lang="en-US" sz="3200" b="1" i="1" smtClean="0">
                                  <a:latin typeface="Cambria Math" panose="02040503050406030204" pitchFamily="18" charset="0"/>
                                </a:rPr>
                              </m:ctrlPr>
                            </m:sSupPr>
                            <m:e>
                              <m:r>
                                <a:rPr lang="en-US" sz="3200" b="1" i="1" smtClean="0">
                                  <a:latin typeface="Cambria Math" panose="02040503050406030204" pitchFamily="18" charset="0"/>
                                </a:rPr>
                                <m:t>𝑲</m:t>
                              </m:r>
                            </m:e>
                            <m:sup>
                              <m:r>
                                <a:rPr lang="en-US" sz="3200" b="1" i="1" smtClean="0">
                                  <a:latin typeface="Cambria Math" panose="02040503050406030204" pitchFamily="18" charset="0"/>
                                </a:rPr>
                                <m:t>𝑻</m:t>
                              </m:r>
                            </m:sup>
                          </m:sSup>
                        </m:num>
                        <m:den>
                          <m:rad>
                            <m:radPr>
                              <m:degHide m:val="on"/>
                              <m:ctrlPr>
                                <a:rPr lang="en-US" sz="3200" b="1" i="1" smtClean="0">
                                  <a:latin typeface="Cambria Math" panose="02040503050406030204" pitchFamily="18" charset="0"/>
                                </a:rPr>
                              </m:ctrlPr>
                            </m:radPr>
                            <m:deg/>
                            <m:e>
                              <m:r>
                                <a:rPr lang="en-US" sz="3200" b="1" i="1" smtClean="0">
                                  <a:latin typeface="Cambria Math" panose="02040503050406030204" pitchFamily="18" charset="0"/>
                                </a:rPr>
                                <m:t>𝒅</m:t>
                              </m:r>
                            </m:e>
                          </m:rad>
                        </m:den>
                      </m:f>
                      <m:r>
                        <a:rPr lang="en-US" sz="3200" b="1" i="1" smtClean="0">
                          <a:latin typeface="Cambria Math" panose="02040503050406030204" pitchFamily="18" charset="0"/>
                        </a:rPr>
                        <m:t>)</m:t>
                      </m:r>
                      <m:r>
                        <a:rPr lang="en-US" sz="3200" b="1" i="1" smtClean="0">
                          <a:latin typeface="Cambria Math" panose="02040503050406030204" pitchFamily="18" charset="0"/>
                        </a:rPr>
                        <m:t>𝑽</m:t>
                      </m:r>
                    </m:oMath>
                  </m:oMathPara>
                </a14:m>
                <a:endParaRPr lang="en-US" sz="3200" b="1"/>
              </a:p>
            </p:txBody>
          </p:sp>
        </mc:Choice>
        <mc:Fallback>
          <p:sp>
            <p:nvSpPr>
              <p:cNvPr id="4" name="TextBox 3">
                <a:extLst>
                  <a:ext uri="{FF2B5EF4-FFF2-40B4-BE49-F238E27FC236}">
                    <a16:creationId xmlns:a16="http://schemas.microsoft.com/office/drawing/2014/main" id="{EA99358A-7E25-F2D0-C7F3-84397948543C}"/>
                  </a:ext>
                </a:extLst>
              </p:cNvPr>
              <p:cNvSpPr txBox="1">
                <a:spLocks noRot="1" noChangeAspect="1" noMove="1" noResize="1" noEditPoints="1" noAdjustHandles="1" noChangeArrowheads="1" noChangeShapeType="1" noTextEdit="1"/>
              </p:cNvSpPr>
              <p:nvPr/>
            </p:nvSpPr>
            <p:spPr>
              <a:xfrm>
                <a:off x="351847" y="889422"/>
                <a:ext cx="6741217" cy="1090555"/>
              </a:xfrm>
              <a:prstGeom prst="rect">
                <a:avLst/>
              </a:prstGeom>
              <a:blipFill>
                <a:blip r:embed="rId2"/>
                <a:stretch>
                  <a:fillRect/>
                </a:stretch>
              </a:blipFill>
            </p:spPr>
            <p:txBody>
              <a:bodyPr/>
              <a:lstStyle/>
              <a:p>
                <a:r>
                  <a:rPr lang="en-US">
                    <a:noFill/>
                  </a:rPr>
                  <a:t> </a:t>
                </a:r>
              </a:p>
            </p:txBody>
          </p:sp>
        </mc:Fallback>
      </mc:AlternateContent>
      <p:pic>
        <p:nvPicPr>
          <p:cNvPr id="6" name="Picture 5" descr="A screenshot of a phone&#10;&#10;AI-generated content may be incorrect.">
            <a:extLst>
              <a:ext uri="{FF2B5EF4-FFF2-40B4-BE49-F238E27FC236}">
                <a16:creationId xmlns:a16="http://schemas.microsoft.com/office/drawing/2014/main" id="{74453F52-60CF-3355-6BE6-3C4F5ABF75B7}"/>
              </a:ext>
            </a:extLst>
          </p:cNvPr>
          <p:cNvPicPr>
            <a:picLocks noChangeAspect="1"/>
          </p:cNvPicPr>
          <p:nvPr/>
        </p:nvPicPr>
        <p:blipFill>
          <a:blip r:embed="rId3"/>
          <a:stretch>
            <a:fillRect/>
          </a:stretch>
        </p:blipFill>
        <p:spPr>
          <a:xfrm>
            <a:off x="8074637" y="447262"/>
            <a:ext cx="3880694" cy="5543356"/>
          </a:xfrm>
          <a:prstGeom prst="rect">
            <a:avLst/>
          </a:prstGeom>
        </p:spPr>
      </p:pic>
      <p:sp>
        <p:nvSpPr>
          <p:cNvPr id="8" name="Rectangle 1">
            <a:extLst>
              <a:ext uri="{FF2B5EF4-FFF2-40B4-BE49-F238E27FC236}">
                <a16:creationId xmlns:a16="http://schemas.microsoft.com/office/drawing/2014/main" id="{BD24C23D-4A6A-549B-062C-D4A6516B378D}"/>
              </a:ext>
            </a:extLst>
          </p:cNvPr>
          <p:cNvSpPr>
            <a:spLocks noChangeArrowheads="1"/>
          </p:cNvSpPr>
          <p:nvPr/>
        </p:nvSpPr>
        <p:spPr bwMode="auto">
          <a:xfrm>
            <a:off x="474870" y="1981221"/>
            <a:ext cx="573487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a:ln>
                  <a:noFill/>
                </a:ln>
                <a:solidFill>
                  <a:schemeClr val="tx1"/>
                </a:solidFill>
                <a:effectLst/>
                <a:latin typeface="Arial" panose="020B0604020202020204" pitchFamily="34" charset="0"/>
              </a:rPr>
              <a:t>Q:</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a:ln>
                  <a:noFill/>
                </a:ln>
                <a:solidFill>
                  <a:schemeClr val="tx1"/>
                </a:solidFill>
                <a:effectLst/>
                <a:latin typeface="Arial" panose="020B0604020202020204" pitchFamily="34" charset="0"/>
              </a:rPr>
              <a:t>Đại diện cho </a:t>
            </a:r>
            <a:r>
              <a:rPr kumimoji="0" lang="en-US" altLang="en-US" sz="1200" b="1" i="0" u="none" strike="noStrike" cap="none" normalizeH="0" baseline="0">
                <a:ln>
                  <a:noFill/>
                </a:ln>
                <a:solidFill>
                  <a:schemeClr val="tx1"/>
                </a:solidFill>
                <a:effectLst/>
                <a:latin typeface="Arial" panose="020B0604020202020204" pitchFamily="34" charset="0"/>
              </a:rPr>
              <a:t>nhu cầu thông tin</a:t>
            </a:r>
            <a:endParaRPr kumimoji="0" lang="en-US" altLang="en-US" sz="12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a:ln>
                  <a:noFill/>
                </a:ln>
                <a:solidFill>
                  <a:schemeClr val="tx1"/>
                </a:solidFill>
                <a:effectLst/>
                <a:latin typeface="Arial" panose="020B0604020202020204" pitchFamily="34" charset="0"/>
              </a:rPr>
              <a:t>Dùng để </a:t>
            </a:r>
            <a:r>
              <a:rPr kumimoji="0" lang="en-US" altLang="en-US" sz="1200" b="1" i="0" u="none" strike="noStrike" cap="none" normalizeH="0" baseline="0">
                <a:ln>
                  <a:noFill/>
                </a:ln>
                <a:solidFill>
                  <a:schemeClr val="tx1"/>
                </a:solidFill>
                <a:effectLst/>
                <a:latin typeface="Arial" panose="020B0604020202020204" pitchFamily="34" charset="0"/>
              </a:rPr>
              <a:t>hỏi các token khác</a:t>
            </a:r>
          </a:p>
          <a:p>
            <a:pPr lvl="0" eaLnBrk="0" fontAlgn="base" hangingPunct="0">
              <a:spcBef>
                <a:spcPct val="0"/>
              </a:spcBef>
              <a:spcAft>
                <a:spcPct val="0"/>
              </a:spcAft>
            </a:pPr>
            <a:r>
              <a:rPr lang="vi-VN" sz="1200"/>
              <a:t>Patch này tìm vùng nào giống tổn thương</a:t>
            </a:r>
            <a:endParaRPr kumimoji="0" lang="en-US" altLang="en-US" sz="1200" b="0" i="0" u="none" strike="noStrike" cap="none" normalizeH="0" baseline="0">
              <a:ln>
                <a:noFill/>
              </a:ln>
              <a:solidFill>
                <a:schemeClr val="tx1"/>
              </a:solidFill>
              <a:effectLst/>
              <a:latin typeface="Arial" panose="020B0604020202020204" pitchFamily="34" charset="0"/>
            </a:endParaRPr>
          </a:p>
        </p:txBody>
      </p:sp>
      <p:sp>
        <p:nvSpPr>
          <p:cNvPr id="12" name="Rectangle 4">
            <a:extLst>
              <a:ext uri="{FF2B5EF4-FFF2-40B4-BE49-F238E27FC236}">
                <a16:creationId xmlns:a16="http://schemas.microsoft.com/office/drawing/2014/main" id="{0D166622-0489-CCF8-7CC1-C7FFF2871CF6}"/>
              </a:ext>
            </a:extLst>
          </p:cNvPr>
          <p:cNvSpPr>
            <a:spLocks noChangeArrowheads="1"/>
          </p:cNvSpPr>
          <p:nvPr/>
        </p:nvSpPr>
        <p:spPr bwMode="auto">
          <a:xfrm>
            <a:off x="452645" y="3071776"/>
            <a:ext cx="262283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a:ln>
                  <a:noFill/>
                </a:ln>
                <a:solidFill>
                  <a:schemeClr val="tx1"/>
                </a:solidFill>
                <a:effectLst/>
                <a:latin typeface="Arial" panose="020B0604020202020204" pitchFamily="34" charset="0"/>
              </a:rPr>
              <a:t>K:</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a:ln>
                  <a:noFill/>
                </a:ln>
                <a:solidFill>
                  <a:schemeClr val="tx1"/>
                </a:solidFill>
                <a:effectLst/>
                <a:latin typeface="Arial" panose="020B0604020202020204" pitchFamily="34" charset="0"/>
              </a:rPr>
              <a:t>Dùng để </a:t>
            </a:r>
            <a:r>
              <a:rPr kumimoji="0" lang="en-US" altLang="en-US" sz="1200" b="1" i="0" u="none" strike="noStrike" cap="none" normalizeH="0" baseline="0">
                <a:ln>
                  <a:noFill/>
                </a:ln>
                <a:solidFill>
                  <a:schemeClr val="tx1"/>
                </a:solidFill>
                <a:effectLst/>
                <a:latin typeface="Arial" panose="020B0604020202020204" pitchFamily="34" charset="0"/>
              </a:rPr>
              <a:t>so với Query</a:t>
            </a:r>
            <a:endParaRPr kumimoji="0" lang="en-US" altLang="en-US" sz="12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a:ln>
                  <a:noFill/>
                </a:ln>
                <a:solidFill>
                  <a:schemeClr val="tx1"/>
                </a:solidFill>
                <a:effectLst/>
                <a:latin typeface="Arial" panose="020B0604020202020204" pitchFamily="34" charset="0"/>
              </a:rPr>
              <a:t>Đại diện cho </a:t>
            </a:r>
            <a:r>
              <a:rPr kumimoji="0" lang="en-US" altLang="en-US" sz="1200" b="1" i="0" u="none" strike="noStrike" cap="none" normalizeH="0" baseline="0">
                <a:ln>
                  <a:noFill/>
                </a:ln>
                <a:solidFill>
                  <a:schemeClr val="tx1"/>
                </a:solidFill>
                <a:effectLst/>
                <a:latin typeface="Arial" panose="020B0604020202020204" pitchFamily="34" charset="0"/>
              </a:rPr>
              <a:t>đặc trưng nhận dạng</a:t>
            </a:r>
          </a:p>
          <a:p>
            <a:pPr lvl="0" eaLnBrk="0" fontAlgn="base" hangingPunct="0">
              <a:spcBef>
                <a:spcPct val="0"/>
              </a:spcBef>
              <a:spcAft>
                <a:spcPct val="0"/>
              </a:spcAft>
            </a:pPr>
            <a:r>
              <a:rPr lang="vi-VN" sz="1200"/>
              <a:t>đặc trưng màu / biên / texture</a:t>
            </a:r>
            <a:endParaRPr kumimoji="0" lang="en-US" altLang="en-US" sz="1200" b="0" i="0" u="none" strike="noStrike" cap="none" normalizeH="0" baseline="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A39C36AD-AD0C-B3CA-76B6-4281F5AC5812}"/>
              </a:ext>
            </a:extLst>
          </p:cNvPr>
          <p:cNvSpPr txBox="1"/>
          <p:nvPr/>
        </p:nvSpPr>
        <p:spPr>
          <a:xfrm>
            <a:off x="452645" y="4162331"/>
            <a:ext cx="6097656" cy="1015663"/>
          </a:xfrm>
          <a:prstGeom prst="rect">
            <a:avLst/>
          </a:prstGeom>
          <a:noFill/>
        </p:spPr>
        <p:txBody>
          <a:bodyPr wrap="square">
            <a:spAutoFit/>
          </a:bodyPr>
          <a:lstStyle/>
          <a:p>
            <a:pPr>
              <a:buNone/>
            </a:pPr>
            <a:r>
              <a:rPr lang="vi-VN" sz="1200"/>
              <a:t>V</a:t>
            </a:r>
            <a:endParaRPr lang="en-US" sz="1200"/>
          </a:p>
          <a:p>
            <a:pPr>
              <a:buNone/>
            </a:pPr>
            <a:r>
              <a:rPr lang="vi-VN" sz="1200"/>
              <a:t>Là </a:t>
            </a:r>
            <a:r>
              <a:rPr lang="vi-VN" sz="1200" b="1"/>
              <a:t>nội dung thực sự được tổng hợp</a:t>
            </a:r>
            <a:endParaRPr lang="vi-VN" sz="1200"/>
          </a:p>
          <a:p>
            <a:r>
              <a:rPr lang="vi-VN" sz="1200"/>
              <a:t>Sau khi attention xong → </a:t>
            </a:r>
            <a:r>
              <a:rPr lang="vi-VN" sz="1200" b="1"/>
              <a:t>truyền V</a:t>
            </a:r>
            <a:endParaRPr lang="vi-VN" sz="1200"/>
          </a:p>
          <a:p>
            <a:pPr>
              <a:buNone/>
            </a:pPr>
            <a:r>
              <a:rPr lang="vi-VN" sz="1200"/>
              <a:t>Query &amp; Key chỉ để </a:t>
            </a:r>
            <a:r>
              <a:rPr lang="vi-VN" sz="1200" b="1"/>
              <a:t>tính điểm</a:t>
            </a:r>
            <a:r>
              <a:rPr lang="vi-VN" sz="1200"/>
              <a:t>,</a:t>
            </a:r>
            <a:br>
              <a:rPr lang="vi-VN" sz="1200"/>
            </a:br>
            <a:r>
              <a:rPr lang="vi-VN" sz="1200" b="1"/>
              <a:t>Value mới là thứ được cộng lại</a:t>
            </a:r>
            <a:endParaRPr lang="vi-VN" sz="1200"/>
          </a:p>
        </p:txBody>
      </p:sp>
      <p:sp>
        <p:nvSpPr>
          <p:cNvPr id="18" name="TextBox 17">
            <a:extLst>
              <a:ext uri="{FF2B5EF4-FFF2-40B4-BE49-F238E27FC236}">
                <a16:creationId xmlns:a16="http://schemas.microsoft.com/office/drawing/2014/main" id="{C3BC0D71-838C-6597-4927-593BC9B3CFD0}"/>
              </a:ext>
            </a:extLst>
          </p:cNvPr>
          <p:cNvSpPr txBox="1"/>
          <p:nvPr/>
        </p:nvSpPr>
        <p:spPr>
          <a:xfrm>
            <a:off x="3722455" y="2130728"/>
            <a:ext cx="3880694" cy="461665"/>
          </a:xfrm>
          <a:prstGeom prst="rect">
            <a:avLst/>
          </a:prstGeom>
          <a:noFill/>
        </p:spPr>
        <p:txBody>
          <a:bodyPr wrap="square">
            <a:spAutoFit/>
          </a:bodyPr>
          <a:lstStyle/>
          <a:p>
            <a:r>
              <a:rPr lang="en-US" sz="1200"/>
              <a:t>d = độ dài (số chiều) vector </a:t>
            </a:r>
            <a:r>
              <a:rPr lang="en-US" sz="1200" b="1"/>
              <a:t>K</a:t>
            </a:r>
            <a:r>
              <a:rPr lang="en-US" sz="1200"/>
              <a:t> biểu diễn của mỗi token (word / patch)</a:t>
            </a:r>
          </a:p>
        </p:txBody>
      </p:sp>
    </p:spTree>
    <p:extLst>
      <p:ext uri="{BB962C8B-B14F-4D97-AF65-F5344CB8AC3E}">
        <p14:creationId xmlns:p14="http://schemas.microsoft.com/office/powerpoint/2010/main" val="896974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graphs showing different types of data&#10;&#10;AI-generated content may be incorrect.">
            <a:extLst>
              <a:ext uri="{FF2B5EF4-FFF2-40B4-BE49-F238E27FC236}">
                <a16:creationId xmlns:a16="http://schemas.microsoft.com/office/drawing/2014/main" id="{FEA4B4C1-0F58-453D-E952-1E17009CF6AB}"/>
              </a:ext>
            </a:extLst>
          </p:cNvPr>
          <p:cNvPicPr>
            <a:picLocks noChangeAspect="1"/>
          </p:cNvPicPr>
          <p:nvPr/>
        </p:nvPicPr>
        <p:blipFill>
          <a:blip r:embed="rId2"/>
          <a:stretch>
            <a:fillRect/>
          </a:stretch>
        </p:blipFill>
        <p:spPr>
          <a:xfrm>
            <a:off x="89451" y="367748"/>
            <a:ext cx="6714778" cy="5098773"/>
          </a:xfrm>
          <a:prstGeom prst="rect">
            <a:avLst/>
          </a:prstGeom>
        </p:spPr>
      </p:pic>
      <p:pic>
        <p:nvPicPr>
          <p:cNvPr id="4098" name="Picture 2" descr="Most Popular Dog Breeds: America's 50 Favorite Dogs">
            <a:extLst>
              <a:ext uri="{FF2B5EF4-FFF2-40B4-BE49-F238E27FC236}">
                <a16:creationId xmlns:a16="http://schemas.microsoft.com/office/drawing/2014/main" id="{DD60769F-466B-A354-FAB0-886EEA1900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3303" y="367748"/>
            <a:ext cx="2951139" cy="2942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E1BC3C87-913D-7015-40D2-D2FEE5AFD8B3}"/>
              </a:ext>
            </a:extLst>
          </p:cNvPr>
          <p:cNvCxnSpPr>
            <a:cxnSpLocks/>
            <a:stCxn id="4098" idx="1"/>
            <a:endCxn id="4098" idx="3"/>
          </p:cNvCxnSpPr>
          <p:nvPr/>
        </p:nvCxnSpPr>
        <p:spPr>
          <a:xfrm>
            <a:off x="7753303" y="1839230"/>
            <a:ext cx="2951139"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980C3BC-36CB-0EF9-5626-FC1CC736E2A3}"/>
              </a:ext>
            </a:extLst>
          </p:cNvPr>
          <p:cNvCxnSpPr>
            <a:cxnSpLocks/>
            <a:stCxn id="4098" idx="0"/>
            <a:endCxn id="4098" idx="2"/>
          </p:cNvCxnSpPr>
          <p:nvPr/>
        </p:nvCxnSpPr>
        <p:spPr>
          <a:xfrm>
            <a:off x="9228873" y="367748"/>
            <a:ext cx="0" cy="2942964"/>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pic>
        <p:nvPicPr>
          <p:cNvPr id="16" name="Picture 2" descr="Most Popular Dog Breeds: America's 50 Favorite Dogs">
            <a:extLst>
              <a:ext uri="{FF2B5EF4-FFF2-40B4-BE49-F238E27FC236}">
                <a16:creationId xmlns:a16="http://schemas.microsoft.com/office/drawing/2014/main" id="{5564C0F1-4B04-DB1C-B194-5B5419EE057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478" t="35739" r="36715" b="40674"/>
          <a:stretch>
            <a:fillRect/>
          </a:stretch>
        </p:blipFill>
        <p:spPr bwMode="auto">
          <a:xfrm>
            <a:off x="7753303" y="3676323"/>
            <a:ext cx="2951136" cy="304335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cxnSp>
        <p:nvCxnSpPr>
          <p:cNvPr id="17" name="Straight Connector 16">
            <a:extLst>
              <a:ext uri="{FF2B5EF4-FFF2-40B4-BE49-F238E27FC236}">
                <a16:creationId xmlns:a16="http://schemas.microsoft.com/office/drawing/2014/main" id="{6BEBDF80-7143-16FD-5920-D7CF945DD75B}"/>
              </a:ext>
            </a:extLst>
          </p:cNvPr>
          <p:cNvCxnSpPr>
            <a:cxnSpLocks/>
            <a:stCxn id="16" idx="1"/>
            <a:endCxn id="16" idx="3"/>
          </p:cNvCxnSpPr>
          <p:nvPr/>
        </p:nvCxnSpPr>
        <p:spPr>
          <a:xfrm>
            <a:off x="7753303" y="5198001"/>
            <a:ext cx="2951136" cy="0"/>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3910F24C-EDA7-1131-8379-B247CCF4B6AB}"/>
              </a:ext>
            </a:extLst>
          </p:cNvPr>
          <p:cNvCxnSpPr>
            <a:cxnSpLocks/>
            <a:stCxn id="16" idx="0"/>
            <a:endCxn id="16" idx="2"/>
          </p:cNvCxnSpPr>
          <p:nvPr/>
        </p:nvCxnSpPr>
        <p:spPr>
          <a:xfrm>
            <a:off x="9228871" y="3676323"/>
            <a:ext cx="0" cy="3043356"/>
          </a:xfrm>
          <a:prstGeom prst="line">
            <a:avLst/>
          </a:prstGeom>
          <a:ln w="34925">
            <a:solidFill>
              <a:schemeClr val="bg1"/>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458785E1-A976-6CB5-E829-09E24E50EDFF}"/>
              </a:ext>
            </a:extLst>
          </p:cNvPr>
          <p:cNvSpPr txBox="1"/>
          <p:nvPr/>
        </p:nvSpPr>
        <p:spPr>
          <a:xfrm>
            <a:off x="398012" y="5725337"/>
            <a:ext cx="6097656" cy="369332"/>
          </a:xfrm>
          <a:prstGeom prst="rect">
            <a:avLst/>
          </a:prstGeom>
          <a:noFill/>
        </p:spPr>
        <p:txBody>
          <a:bodyPr wrap="square">
            <a:spAutoFit/>
          </a:bodyPr>
          <a:lstStyle/>
          <a:p>
            <a:r>
              <a:rPr lang="en-US" b="1" i="0">
                <a:effectLst/>
                <a:latin typeface="Google Sans Text"/>
              </a:rPr>
              <a:t>True Positive Rate</a:t>
            </a:r>
            <a:r>
              <a:rPr lang="en-US" b="0" i="0">
                <a:effectLst/>
                <a:latin typeface="Google Sans Text"/>
              </a:rPr>
              <a:t> (Tỷ lệ dương tính thật).</a:t>
            </a:r>
            <a:endParaRPr lang="en-US"/>
          </a:p>
        </p:txBody>
      </p:sp>
    </p:spTree>
    <p:extLst>
      <p:ext uri="{BB962C8B-B14F-4D97-AF65-F5344CB8AC3E}">
        <p14:creationId xmlns:p14="http://schemas.microsoft.com/office/powerpoint/2010/main" val="1247478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Picture 6" descr="Hà Nội xây thêm 29 cầu vượt cho người đi bộ">
            <a:extLst>
              <a:ext uri="{FF2B5EF4-FFF2-40B4-BE49-F238E27FC236}">
                <a16:creationId xmlns:a16="http://schemas.microsoft.com/office/drawing/2014/main" id="{CAF5815E-769B-71A1-6123-BEC111CBC9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34359" r="34400"/>
          <a:stretch>
            <a:fillRect/>
          </a:stretch>
        </p:blipFill>
        <p:spPr bwMode="auto">
          <a:xfrm>
            <a:off x="377894" y="384274"/>
            <a:ext cx="6277380" cy="49828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Hà Nội xây thêm 29 cầu vượt cho người đi bộ">
            <a:extLst>
              <a:ext uri="{FF2B5EF4-FFF2-40B4-BE49-F238E27FC236}">
                <a16:creationId xmlns:a16="http://schemas.microsoft.com/office/drawing/2014/main" id="{952AD1FD-5939-EDE1-0098-D50BBEDEE4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210" t="64368" r="75032" b="-1"/>
          <a:stretch>
            <a:fillRect/>
          </a:stretch>
        </p:blipFill>
        <p:spPr bwMode="auto">
          <a:xfrm>
            <a:off x="9879495" y="3679881"/>
            <a:ext cx="1383249" cy="284936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Hà Nội xây thêm 29 cầu vượt cho người đi bộ">
            <a:extLst>
              <a:ext uri="{FF2B5EF4-FFF2-40B4-BE49-F238E27FC236}">
                <a16:creationId xmlns:a16="http://schemas.microsoft.com/office/drawing/2014/main" id="{3DB227B8-25A6-8D17-8F6B-3C10799D02C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5552" r="94256" b="21178"/>
          <a:stretch>
            <a:fillRect/>
          </a:stretch>
        </p:blipFill>
        <p:spPr bwMode="auto">
          <a:xfrm>
            <a:off x="7305261" y="3679881"/>
            <a:ext cx="1578889" cy="290077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A1AE08E-461E-7A70-2C73-09284536B3E3}"/>
              </a:ext>
            </a:extLst>
          </p:cNvPr>
          <p:cNvSpPr txBox="1"/>
          <p:nvPr/>
        </p:nvSpPr>
        <p:spPr>
          <a:xfrm>
            <a:off x="7305261" y="1461052"/>
            <a:ext cx="4080868" cy="646331"/>
          </a:xfrm>
          <a:prstGeom prst="rect">
            <a:avLst/>
          </a:prstGeom>
          <a:noFill/>
        </p:spPr>
        <p:txBody>
          <a:bodyPr wrap="square" rtlCol="0">
            <a:spAutoFit/>
          </a:bodyPr>
          <a:lstStyle/>
          <a:p>
            <a:r>
              <a:rPr lang="en-US" b="1"/>
              <a:t>ResNet50 (CNN):  Ảnh càng xa, pixel càng ít, khó nhận diện đối tượng</a:t>
            </a:r>
          </a:p>
        </p:txBody>
      </p:sp>
    </p:spTree>
    <p:extLst>
      <p:ext uri="{BB962C8B-B14F-4D97-AF65-F5344CB8AC3E}">
        <p14:creationId xmlns:p14="http://schemas.microsoft.com/office/powerpoint/2010/main" val="1975109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E48BA3-A457-7560-9476-9E31A38277C0}"/>
              </a:ext>
            </a:extLst>
          </p:cNvPr>
          <p:cNvSpPr txBox="1"/>
          <p:nvPr/>
        </p:nvSpPr>
        <p:spPr>
          <a:xfrm>
            <a:off x="2141113" y="2173372"/>
            <a:ext cx="7133021" cy="369332"/>
          </a:xfrm>
          <a:prstGeom prst="rect">
            <a:avLst/>
          </a:prstGeom>
          <a:noFill/>
        </p:spPr>
        <p:txBody>
          <a:bodyPr wrap="square">
            <a:spAutoFit/>
          </a:bodyPr>
          <a:lstStyle/>
          <a:p>
            <a:r>
              <a:rPr lang="en-US">
                <a:hlinkClick r:id="rId2"/>
              </a:rPr>
              <a:t>https://huggingface.co/google/vit-base-patch16-224</a:t>
            </a:r>
            <a:r>
              <a:rPr lang="en-US"/>
              <a:t> (model)</a:t>
            </a:r>
          </a:p>
        </p:txBody>
      </p:sp>
      <p:sp>
        <p:nvSpPr>
          <p:cNvPr id="10" name="TextBox 9">
            <a:extLst>
              <a:ext uri="{FF2B5EF4-FFF2-40B4-BE49-F238E27FC236}">
                <a16:creationId xmlns:a16="http://schemas.microsoft.com/office/drawing/2014/main" id="{DA59ED0C-784A-8127-B166-5838B35378DC}"/>
              </a:ext>
            </a:extLst>
          </p:cNvPr>
          <p:cNvSpPr txBox="1"/>
          <p:nvPr/>
        </p:nvSpPr>
        <p:spPr>
          <a:xfrm>
            <a:off x="2141113" y="2811096"/>
            <a:ext cx="6096000" cy="369332"/>
          </a:xfrm>
          <a:prstGeom prst="rect">
            <a:avLst/>
          </a:prstGeom>
          <a:noFill/>
        </p:spPr>
        <p:txBody>
          <a:bodyPr wrap="square">
            <a:spAutoFit/>
          </a:bodyPr>
          <a:lstStyle/>
          <a:p>
            <a:r>
              <a:rPr lang="en-US">
                <a:hlinkClick r:id="rId3"/>
              </a:rPr>
              <a:t>https://arxiv.org/pdf/2010.11929</a:t>
            </a:r>
            <a:r>
              <a:rPr lang="en-US"/>
              <a:t> (bài báo về model)</a:t>
            </a:r>
          </a:p>
        </p:txBody>
      </p:sp>
      <p:sp>
        <p:nvSpPr>
          <p:cNvPr id="14" name="TextBox 13">
            <a:extLst>
              <a:ext uri="{FF2B5EF4-FFF2-40B4-BE49-F238E27FC236}">
                <a16:creationId xmlns:a16="http://schemas.microsoft.com/office/drawing/2014/main" id="{C1E562D4-D788-7DD8-9E41-BFF1CC4E86D5}"/>
              </a:ext>
            </a:extLst>
          </p:cNvPr>
          <p:cNvSpPr txBox="1"/>
          <p:nvPr/>
        </p:nvSpPr>
        <p:spPr>
          <a:xfrm>
            <a:off x="2141113" y="3295472"/>
            <a:ext cx="7690165" cy="369332"/>
          </a:xfrm>
          <a:prstGeom prst="rect">
            <a:avLst/>
          </a:prstGeom>
          <a:noFill/>
        </p:spPr>
        <p:txBody>
          <a:bodyPr wrap="square">
            <a:spAutoFit/>
          </a:bodyPr>
          <a:lstStyle/>
          <a:p>
            <a:r>
              <a:rPr lang="en-US">
                <a:hlinkClick r:id="rId4"/>
              </a:rPr>
              <a:t>https://www.nature.com/articles/sdata2018161</a:t>
            </a:r>
            <a:r>
              <a:rPr lang="en-US"/>
              <a:t> (bài báo về dataset)</a:t>
            </a:r>
          </a:p>
        </p:txBody>
      </p:sp>
      <p:sp>
        <p:nvSpPr>
          <p:cNvPr id="18" name="TextBox 17">
            <a:extLst>
              <a:ext uri="{FF2B5EF4-FFF2-40B4-BE49-F238E27FC236}">
                <a16:creationId xmlns:a16="http://schemas.microsoft.com/office/drawing/2014/main" id="{B644078B-CD83-16E6-F651-912129CA9F88}"/>
              </a:ext>
            </a:extLst>
          </p:cNvPr>
          <p:cNvSpPr txBox="1"/>
          <p:nvPr/>
        </p:nvSpPr>
        <p:spPr>
          <a:xfrm>
            <a:off x="2141113" y="3933196"/>
            <a:ext cx="7416480" cy="923330"/>
          </a:xfrm>
          <a:prstGeom prst="rect">
            <a:avLst/>
          </a:prstGeom>
          <a:noFill/>
        </p:spPr>
        <p:txBody>
          <a:bodyPr wrap="square">
            <a:spAutoFit/>
          </a:bodyPr>
          <a:lstStyle/>
          <a:p>
            <a:r>
              <a:rPr lang="en-US">
                <a:hlinkClick r:id="rId5"/>
              </a:rPr>
              <a:t>https://www.researchgate.net/publication/384018286_Comprehensive_comparison_between_vision_transformers_and_convolutional_neural_networks_for_face_recognition_tasks</a:t>
            </a:r>
            <a:r>
              <a:rPr lang="en-US"/>
              <a:t> (so sánh CNN, ViT)</a:t>
            </a:r>
          </a:p>
        </p:txBody>
      </p:sp>
      <p:sp>
        <p:nvSpPr>
          <p:cNvPr id="19" name="TextBox 18">
            <a:extLst>
              <a:ext uri="{FF2B5EF4-FFF2-40B4-BE49-F238E27FC236}">
                <a16:creationId xmlns:a16="http://schemas.microsoft.com/office/drawing/2014/main" id="{B2337F1D-93B3-3A28-1340-72562765068C}"/>
              </a:ext>
            </a:extLst>
          </p:cNvPr>
          <p:cNvSpPr txBox="1"/>
          <p:nvPr/>
        </p:nvSpPr>
        <p:spPr>
          <a:xfrm>
            <a:off x="404910" y="520861"/>
            <a:ext cx="2339936" cy="646331"/>
          </a:xfrm>
          <a:prstGeom prst="rect">
            <a:avLst/>
          </a:prstGeom>
          <a:noFill/>
        </p:spPr>
        <p:txBody>
          <a:bodyPr wrap="none" rtlCol="0">
            <a:spAutoFit/>
          </a:bodyPr>
          <a:lstStyle/>
          <a:p>
            <a:r>
              <a:rPr lang="en-US" sz="3600" b="1"/>
              <a:t>Reference</a:t>
            </a:r>
          </a:p>
        </p:txBody>
      </p:sp>
    </p:spTree>
    <p:extLst>
      <p:ext uri="{BB962C8B-B14F-4D97-AF65-F5344CB8AC3E}">
        <p14:creationId xmlns:p14="http://schemas.microsoft.com/office/powerpoint/2010/main" val="985998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974</TotalTime>
  <Words>699</Words>
  <Application>Microsoft Office PowerPoint</Application>
  <PresentationFormat>Widescreen</PresentationFormat>
  <Paragraphs>73</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Aptos Display</vt:lpstr>
      <vt:lpstr>Arial</vt:lpstr>
      <vt:lpstr>Cambria Math</vt:lpstr>
      <vt:lpstr>Google Sans Text</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Đức Hiếu</dc:creator>
  <cp:lastModifiedBy>Đức Hiếu</cp:lastModifiedBy>
  <cp:revision>4</cp:revision>
  <dcterms:created xsi:type="dcterms:W3CDTF">2025-12-30T03:48:06Z</dcterms:created>
  <dcterms:modified xsi:type="dcterms:W3CDTF">2025-12-31T08:35:39Z</dcterms:modified>
</cp:coreProperties>
</file>